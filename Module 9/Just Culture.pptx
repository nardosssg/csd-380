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1"/>
  </p:notesMasterIdLst>
  <p:sldIdLst>
    <p:sldId id="256" r:id="rId2"/>
    <p:sldId id="261" r:id="rId3"/>
    <p:sldId id="304" r:id="rId4"/>
    <p:sldId id="305" r:id="rId5"/>
    <p:sldId id="260" r:id="rId6"/>
    <p:sldId id="262" r:id="rId7"/>
    <p:sldId id="307" r:id="rId8"/>
    <p:sldId id="285" r:id="rId9"/>
    <p:sldId id="306" r:id="rId10"/>
  </p:sldIdLst>
  <p:sldSz cx="9144000" cy="5143500" type="screen16x9"/>
  <p:notesSz cx="6858000" cy="9144000"/>
  <p:embeddedFontLst>
    <p:embeddedFont>
      <p:font typeface="Bebas Neue" panose="020B0606020202050201" pitchFamily="34" charset="0"/>
      <p:regular r:id="rId12"/>
    </p:embeddedFont>
    <p:embeddedFont>
      <p:font typeface="Mulish" panose="020B0604020202020204" charset="0"/>
      <p:regular r:id="rId13"/>
      <p:bold r:id="rId14"/>
      <p:italic r:id="rId15"/>
      <p:boldItalic r:id="rId16"/>
    </p:embeddedFont>
    <p:embeddedFont>
      <p:font typeface="Nunito Light" pitchFamily="2" charset="0"/>
      <p:regular r:id="rId17"/>
      <p:italic r:id="rId18"/>
    </p:embeddedFont>
    <p:embeddedFont>
      <p:font typeface="Quicksand" panose="020B0604020202020204" charset="0"/>
      <p:regular r:id="rId19"/>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45CB157-CBEB-442E-BD1C-834799823945}">
  <a:tblStyle styleId="{145CB157-CBEB-442E-BD1C-83479982394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83" name="Google Shape;283;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ed9256fe6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51" name="Google Shape;351;ged9256fe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1dd46dd1d67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60" name="Google Shape;360;g1dd46dd1d67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effectLst/>
              </a:rPr>
              <a:t>Christman, &amp; </a:t>
            </a:r>
            <a:r>
              <a:rPr lang="en-US" dirty="0" err="1">
                <a:effectLst/>
              </a:rPr>
              <a:t>Ernstmeyer</a:t>
            </a:r>
            <a:r>
              <a:rPr lang="en-US" dirty="0">
                <a:effectLst/>
              </a:rPr>
              <a:t> . (n.d.). </a:t>
            </a:r>
            <a:r>
              <a:rPr lang="en-US" i="1" dirty="0">
                <a:effectLst/>
              </a:rPr>
              <a:t>Just culture</a:t>
            </a:r>
            <a:r>
              <a:rPr lang="en-US" dirty="0">
                <a:effectLst/>
              </a:rPr>
              <a:t>. </a:t>
            </a:r>
            <a:r>
              <a:rPr lang="en-US" dirty="0" err="1">
                <a:effectLst/>
              </a:rPr>
              <a:t>PressBooks</a:t>
            </a:r>
            <a:r>
              <a:rPr lang="en-US" dirty="0">
                <a:effectLst/>
              </a:rPr>
              <a:t>. https://mlpp.pressbooks.pub/nursingsynthesisandcapstone/chapter/jc-basic-concepts/ </a:t>
            </a:r>
          </a:p>
          <a:p>
            <a:endParaRPr lang="en-US" dirty="0"/>
          </a:p>
        </p:txBody>
      </p:sp>
    </p:spTree>
    <p:extLst>
      <p:ext uri="{BB962C8B-B14F-4D97-AF65-F5344CB8AC3E}">
        <p14:creationId xmlns:p14="http://schemas.microsoft.com/office/powerpoint/2010/main" val="2723390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
        <p:cNvGrpSpPr/>
        <p:nvPr/>
      </p:nvGrpSpPr>
      <p:grpSpPr>
        <a:xfrm>
          <a:off x="0" y="0"/>
          <a:ext cx="0" cy="0"/>
          <a:chOff x="0" y="0"/>
          <a:chExt cx="0" cy="0"/>
        </a:xfrm>
      </p:grpSpPr>
      <p:sp>
        <p:nvSpPr>
          <p:cNvPr id="1203" name="Google Shape;1203;g51b1a71d38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204" name="Google Shape;1204;g51b1a71d3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1609200" y="1424875"/>
            <a:ext cx="5925600" cy="2079300"/>
          </a:xfrm>
          <a:prstGeom prst="rect">
            <a:avLst/>
          </a:prstGeom>
          <a:noFill/>
        </p:spPr>
        <p:txBody>
          <a:bodyPr spcFirstLastPara="1" wrap="square" lIns="91425" tIns="91425" rIns="91425" bIns="91425" anchor="ctr" anchorCtr="0">
            <a:noAutofit/>
          </a:bodyPr>
          <a:lstStyle>
            <a:lvl1pPr lvl="0" algn="ctr">
              <a:lnSpc>
                <a:spcPct val="115000"/>
              </a:lnSpc>
              <a:spcBef>
                <a:spcPts val="0"/>
              </a:spcBef>
              <a:spcAft>
                <a:spcPts val="0"/>
              </a:spcAft>
              <a:buSzPts val="5200"/>
              <a:buNone/>
              <a:defRPr sz="7200" b="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1609200" y="3573775"/>
            <a:ext cx="5942700" cy="475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sp>
        <p:nvSpPr>
          <p:cNvPr id="27" name="Google Shape;27;p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 name="Google Shape;28;p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9" name="Google Shape;29;p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 name="Google Shape;30;p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31" name="Google Shape;31;p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32" name="Google Shape;32;p4"/>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33" name="Google Shape;33;p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34" name="Google Shape;34;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5" name="Google Shape;35;p4"/>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Clr>
                <a:schemeClr val="dk2"/>
              </a:buClr>
              <a:buSzPts val="800"/>
              <a:buFont typeface="Nunito Light"/>
              <a:buChar char="●"/>
              <a:defRPr/>
            </a:lvl1pPr>
            <a:lvl2pPr marL="914400" lvl="1" indent="-304800" rtl="0">
              <a:spcBef>
                <a:spcPts val="0"/>
              </a:spcBef>
              <a:spcAft>
                <a:spcPts val="0"/>
              </a:spcAft>
              <a:buSzPts val="1200"/>
              <a:buFont typeface="Nunito Light"/>
              <a:buChar char="○"/>
              <a:defRPr/>
            </a:lvl2pPr>
            <a:lvl3pPr marL="1371600" lvl="2" indent="-304800" rtl="0">
              <a:lnSpc>
                <a:spcPct val="115000"/>
              </a:lnSpc>
              <a:spcBef>
                <a:spcPts val="0"/>
              </a:spcBef>
              <a:spcAft>
                <a:spcPts val="0"/>
              </a:spcAft>
              <a:buClr>
                <a:srgbClr val="FFC800"/>
              </a:buClr>
              <a:buSzPts val="1200"/>
              <a:buFont typeface="Nunito Light"/>
              <a:buChar char="■"/>
              <a:defRPr/>
            </a:lvl3pPr>
            <a:lvl4pPr marL="1828800" lvl="3" indent="-304800" rtl="0">
              <a:lnSpc>
                <a:spcPct val="115000"/>
              </a:lnSpc>
              <a:spcBef>
                <a:spcPts val="1600"/>
              </a:spcBef>
              <a:spcAft>
                <a:spcPts val="0"/>
              </a:spcAft>
              <a:buClr>
                <a:srgbClr val="FFC800"/>
              </a:buClr>
              <a:buSzPts val="1200"/>
              <a:buFont typeface="Nunito Light"/>
              <a:buChar char="●"/>
              <a:defRPr/>
            </a:lvl4pPr>
            <a:lvl5pPr marL="2286000" lvl="4" indent="-304800" rtl="0">
              <a:lnSpc>
                <a:spcPct val="115000"/>
              </a:lnSpc>
              <a:spcBef>
                <a:spcPts val="1600"/>
              </a:spcBef>
              <a:spcAft>
                <a:spcPts val="0"/>
              </a:spcAft>
              <a:buClr>
                <a:srgbClr val="434343"/>
              </a:buClr>
              <a:buSzPts val="1200"/>
              <a:buFont typeface="Nunito Light"/>
              <a:buChar char="○"/>
              <a:defRPr/>
            </a:lvl5pPr>
            <a:lvl6pPr marL="2743200" lvl="5" indent="-304800" rtl="0">
              <a:lnSpc>
                <a:spcPct val="115000"/>
              </a:lnSpc>
              <a:spcBef>
                <a:spcPts val="1600"/>
              </a:spcBef>
              <a:spcAft>
                <a:spcPts val="0"/>
              </a:spcAft>
              <a:buClr>
                <a:srgbClr val="434343"/>
              </a:buClr>
              <a:buSzPts val="1200"/>
              <a:buFont typeface="Nunito Light"/>
              <a:buChar char="■"/>
              <a:defRPr/>
            </a:lvl6pPr>
            <a:lvl7pPr marL="3200400" lvl="6" indent="-304800" rtl="0">
              <a:lnSpc>
                <a:spcPct val="115000"/>
              </a:lnSpc>
              <a:spcBef>
                <a:spcPts val="1600"/>
              </a:spcBef>
              <a:spcAft>
                <a:spcPts val="0"/>
              </a:spcAft>
              <a:buClr>
                <a:srgbClr val="434343"/>
              </a:buClr>
              <a:buSzPts val="1200"/>
              <a:buFont typeface="Nunito Light"/>
              <a:buChar char="●"/>
              <a:defRPr/>
            </a:lvl7pPr>
            <a:lvl8pPr marL="3657600" lvl="7" indent="-304800" rtl="0">
              <a:lnSpc>
                <a:spcPct val="115000"/>
              </a:lnSpc>
              <a:spcBef>
                <a:spcPts val="1600"/>
              </a:spcBef>
              <a:spcAft>
                <a:spcPts val="0"/>
              </a:spcAft>
              <a:buClr>
                <a:srgbClr val="434343"/>
              </a:buClr>
              <a:buSzPts val="1200"/>
              <a:buFont typeface="Nunito Light"/>
              <a:buChar char="○"/>
              <a:defRPr/>
            </a:lvl8pPr>
            <a:lvl9pPr marL="4114800" lvl="8" indent="-304800" rtl="0">
              <a:lnSpc>
                <a:spcPct val="115000"/>
              </a:lnSpc>
              <a:spcBef>
                <a:spcPts val="1600"/>
              </a:spcBef>
              <a:spcAft>
                <a:spcPts val="1600"/>
              </a:spcAft>
              <a:buClr>
                <a:srgbClr val="434343"/>
              </a:buClr>
              <a:buSzPts val="1200"/>
              <a:buFont typeface="Nunito Light"/>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7"/>
        <p:cNvGrpSpPr/>
        <p:nvPr/>
      </p:nvGrpSpPr>
      <p:grpSpPr>
        <a:xfrm>
          <a:off x="0" y="0"/>
          <a:ext cx="0" cy="0"/>
          <a:chOff x="0" y="0"/>
          <a:chExt cx="0" cy="0"/>
        </a:xfrm>
      </p:grpSpPr>
      <p:sp>
        <p:nvSpPr>
          <p:cNvPr id="78" name="Google Shape;78;p9"/>
          <p:cNvSpPr txBox="1">
            <a:spLocks noGrp="1"/>
          </p:cNvSpPr>
          <p:nvPr>
            <p:ph type="title"/>
          </p:nvPr>
        </p:nvSpPr>
        <p:spPr>
          <a:xfrm>
            <a:off x="720000" y="1413525"/>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9" name="Google Shape;79;p9"/>
          <p:cNvSpPr txBox="1">
            <a:spLocks noGrp="1"/>
          </p:cNvSpPr>
          <p:nvPr>
            <p:ph type="subTitle" idx="1"/>
          </p:nvPr>
        </p:nvSpPr>
        <p:spPr>
          <a:xfrm>
            <a:off x="720000" y="3508800"/>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0" name="Google Shape;80;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4"/>
        <p:cNvGrpSpPr/>
        <p:nvPr/>
      </p:nvGrpSpPr>
      <p:grpSpPr>
        <a:xfrm>
          <a:off x="0" y="0"/>
          <a:ext cx="0" cy="0"/>
          <a:chOff x="0" y="0"/>
          <a:chExt cx="0" cy="0"/>
        </a:xfrm>
      </p:grpSpPr>
      <p:sp>
        <p:nvSpPr>
          <p:cNvPr id="85" name="Google Shape;85;p11"/>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6" name="Google Shape;86;p11"/>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87" name="Google Shape;87;p11"/>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8" name="Google Shape;88;p11"/>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89" name="Google Shape;89;p11"/>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90" name="Google Shape;90;p11"/>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91" name="Google Shape;91;p11"/>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92" name="Google Shape;92;p11"/>
          <p:cNvSpPr txBox="1">
            <a:spLocks noGrp="1"/>
          </p:cNvSpPr>
          <p:nvPr>
            <p:ph type="title" hasCustomPrompt="1"/>
          </p:nvPr>
        </p:nvSpPr>
        <p:spPr>
          <a:xfrm>
            <a:off x="1284000" y="1429725"/>
            <a:ext cx="6576000" cy="14088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3" name="Google Shape;93;p11"/>
          <p:cNvSpPr txBox="1">
            <a:spLocks noGrp="1"/>
          </p:cNvSpPr>
          <p:nvPr>
            <p:ph type="subTitle" idx="1"/>
          </p:nvPr>
        </p:nvSpPr>
        <p:spPr>
          <a:xfrm>
            <a:off x="1284000" y="2985500"/>
            <a:ext cx="6576000" cy="4971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9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22"/>
        <p:cNvGrpSpPr/>
        <p:nvPr/>
      </p:nvGrpSpPr>
      <p:grpSpPr>
        <a:xfrm>
          <a:off x="0" y="0"/>
          <a:ext cx="0" cy="0"/>
          <a:chOff x="0" y="0"/>
          <a:chExt cx="0" cy="0"/>
        </a:xfrm>
      </p:grpSpPr>
      <p:sp>
        <p:nvSpPr>
          <p:cNvPr id="123" name="Google Shape;123;p1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4" name="Google Shape;124;p1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25" name="Google Shape;125;p1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6" name="Google Shape;126;p1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27" name="Google Shape;127;p1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28" name="Google Shape;128;p14"/>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129" name="Google Shape;129;p1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30" name="Google Shape;130;p14"/>
          <p:cNvSpPr txBox="1">
            <a:spLocks noGrp="1"/>
          </p:cNvSpPr>
          <p:nvPr>
            <p:ph type="title"/>
          </p:nvPr>
        </p:nvSpPr>
        <p:spPr>
          <a:xfrm>
            <a:off x="969900" y="3387600"/>
            <a:ext cx="7204200" cy="531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a:solidFill>
                  <a:schemeClr val="dk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31" name="Google Shape;131;p14"/>
          <p:cNvSpPr txBox="1">
            <a:spLocks noGrp="1"/>
          </p:cNvSpPr>
          <p:nvPr>
            <p:ph type="subTitle" idx="1"/>
          </p:nvPr>
        </p:nvSpPr>
        <p:spPr>
          <a:xfrm>
            <a:off x="969900" y="1312625"/>
            <a:ext cx="7204200" cy="147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68"/>
        <p:cNvGrpSpPr/>
        <p:nvPr/>
      </p:nvGrpSpPr>
      <p:grpSpPr>
        <a:xfrm>
          <a:off x="0" y="0"/>
          <a:ext cx="0" cy="0"/>
          <a:chOff x="0" y="0"/>
          <a:chExt cx="0" cy="0"/>
        </a:xfrm>
      </p:grpSpPr>
      <p:sp>
        <p:nvSpPr>
          <p:cNvPr id="169" name="Google Shape;169;p18"/>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0" name="Google Shape;170;p18"/>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71" name="Google Shape;171;p18"/>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2" name="Google Shape;172;p18"/>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73" name="Google Shape;173;p18"/>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74" name="Google Shape;174;p18"/>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175" name="Google Shape;175;p18"/>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76" name="Google Shape;176;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7" name="Google Shape;177;p18"/>
          <p:cNvSpPr txBox="1">
            <a:spLocks noGrp="1"/>
          </p:cNvSpPr>
          <p:nvPr>
            <p:ph type="subTitle" idx="1"/>
          </p:nvPr>
        </p:nvSpPr>
        <p:spPr>
          <a:xfrm>
            <a:off x="720025" y="1610942"/>
            <a:ext cx="7704000" cy="530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78" name="Google Shape;178;p18"/>
          <p:cNvSpPr txBox="1">
            <a:spLocks noGrp="1"/>
          </p:cNvSpPr>
          <p:nvPr>
            <p:ph type="subTitle" idx="2"/>
          </p:nvPr>
        </p:nvSpPr>
        <p:spPr>
          <a:xfrm>
            <a:off x="720025" y="2731125"/>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79" name="Google Shape;179;p18"/>
          <p:cNvSpPr txBox="1">
            <a:spLocks noGrp="1"/>
          </p:cNvSpPr>
          <p:nvPr>
            <p:ph type="subTitle" idx="3"/>
          </p:nvPr>
        </p:nvSpPr>
        <p:spPr>
          <a:xfrm>
            <a:off x="720025" y="3851625"/>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80" name="Google Shape;180;p18"/>
          <p:cNvSpPr txBox="1">
            <a:spLocks noGrp="1"/>
          </p:cNvSpPr>
          <p:nvPr>
            <p:ph type="subTitle" idx="4"/>
          </p:nvPr>
        </p:nvSpPr>
        <p:spPr>
          <a:xfrm>
            <a:off x="720025" y="1241274"/>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81" name="Google Shape;181;p18"/>
          <p:cNvSpPr txBox="1">
            <a:spLocks noGrp="1"/>
          </p:cNvSpPr>
          <p:nvPr>
            <p:ph type="subTitle" idx="5"/>
          </p:nvPr>
        </p:nvSpPr>
        <p:spPr>
          <a:xfrm>
            <a:off x="720025" y="2350125"/>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82" name="Google Shape;182;p18"/>
          <p:cNvSpPr txBox="1">
            <a:spLocks noGrp="1"/>
          </p:cNvSpPr>
          <p:nvPr>
            <p:ph type="subTitle" idx="6"/>
          </p:nvPr>
        </p:nvSpPr>
        <p:spPr>
          <a:xfrm>
            <a:off x="720025" y="3470625"/>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59"/>
        <p:cNvGrpSpPr/>
        <p:nvPr/>
      </p:nvGrpSpPr>
      <p:grpSpPr>
        <a:xfrm>
          <a:off x="0" y="0"/>
          <a:ext cx="0" cy="0"/>
          <a:chOff x="0" y="0"/>
          <a:chExt cx="0" cy="0"/>
        </a:xfrm>
      </p:grpSpPr>
      <p:sp>
        <p:nvSpPr>
          <p:cNvPr id="260" name="Google Shape;260;p2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262" name="Google Shape;262;p2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63" name="Google Shape;263;p2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4" name="Google Shape;264;p2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65" name="Google Shape;265;p2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66" name="Google Shape;266;p24"/>
          <p:cNvSpPr txBox="1">
            <a:spLocks noGrp="1"/>
          </p:cNvSpPr>
          <p:nvPr>
            <p:ph type="sldNum" idx="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lt1"/>
                </a:solidFill>
              </a:defRPr>
            </a:lvl1pPr>
            <a:lvl2pPr lvl="1" algn="ctr" rtl="0">
              <a:buNone/>
              <a:defRPr>
                <a:solidFill>
                  <a:schemeClr val="lt1"/>
                </a:solidFill>
              </a:defRPr>
            </a:lvl2pPr>
            <a:lvl3pPr lvl="2" algn="ctr" rtl="0">
              <a:buNone/>
              <a:defRPr>
                <a:solidFill>
                  <a:schemeClr val="lt1"/>
                </a:solidFill>
              </a:defRPr>
            </a:lvl3pPr>
            <a:lvl4pPr lvl="3" algn="ctr" rtl="0">
              <a:buNone/>
              <a:defRPr>
                <a:solidFill>
                  <a:schemeClr val="lt1"/>
                </a:solidFill>
              </a:defRPr>
            </a:lvl4pPr>
            <a:lvl5pPr lvl="4" algn="ctr" rtl="0">
              <a:buNone/>
              <a:defRPr>
                <a:solidFill>
                  <a:schemeClr val="lt1"/>
                </a:solidFill>
              </a:defRPr>
            </a:lvl5pPr>
            <a:lvl6pPr lvl="5" algn="ctr" rtl="0">
              <a:buNone/>
              <a:defRPr>
                <a:solidFill>
                  <a:schemeClr val="lt1"/>
                </a:solidFill>
              </a:defRPr>
            </a:lvl6pPr>
            <a:lvl7pPr lvl="6" algn="ctr" rtl="0">
              <a:buNone/>
              <a:defRPr>
                <a:solidFill>
                  <a:schemeClr val="lt1"/>
                </a:solidFill>
              </a:defRPr>
            </a:lvl7pPr>
            <a:lvl8pPr lvl="7" algn="ctr" rtl="0">
              <a:buNone/>
              <a:defRPr>
                <a:solidFill>
                  <a:schemeClr val="lt1"/>
                </a:solidFill>
              </a:defRPr>
            </a:lvl8pPr>
            <a:lvl9pPr lvl="8" algn="ctr" rtl="0">
              <a:buNone/>
              <a:defRPr>
                <a:solidFill>
                  <a:schemeClr val="lt1"/>
                </a:solidFill>
              </a:defRPr>
            </a:lvl9pPr>
          </a:lstStyle>
          <a:p>
            <a:pPr marL="0" lvl="0" indent="0" algn="ctr" rtl="0">
              <a:spcBef>
                <a:spcPts val="0"/>
              </a:spcBef>
              <a:spcAft>
                <a:spcPts val="0"/>
              </a:spcAft>
              <a:buNone/>
            </a:pPr>
            <a:fld id="{00000000-1234-1234-1234-123412341234}" type="slidenum">
              <a:rPr lang="en"/>
              <a:t>‹#›</a:t>
            </a:fld>
            <a:endParaRPr/>
          </a:p>
        </p:txBody>
      </p:sp>
      <p:cxnSp>
        <p:nvCxnSpPr>
          <p:cNvPr id="267" name="Google Shape;267;p2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68"/>
        <p:cNvGrpSpPr/>
        <p:nvPr/>
      </p:nvGrpSpPr>
      <p:grpSpPr>
        <a:xfrm>
          <a:off x="0" y="0"/>
          <a:ext cx="0" cy="0"/>
          <a:chOff x="0" y="0"/>
          <a:chExt cx="0" cy="0"/>
        </a:xfrm>
      </p:grpSpPr>
      <p:sp>
        <p:nvSpPr>
          <p:cNvPr id="269" name="Google Shape;269;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70" name="Google Shape;270;p25"/>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1" name="Google Shape;271;p25"/>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72" name="Google Shape;272;p25"/>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3" name="Google Shape;273;p25"/>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74" name="Google Shape;274;p25"/>
          <p:cNvCxnSpPr/>
          <p:nvPr/>
        </p:nvCxnSpPr>
        <p:spPr>
          <a:xfrm rot="10800000" flipH="1">
            <a:off x="347659" y="4749851"/>
            <a:ext cx="8448600" cy="33000"/>
          </a:xfrm>
          <a:prstGeom prst="straightConnector1">
            <a:avLst/>
          </a:prstGeom>
          <a:noFill/>
          <a:ln w="19050" cap="flat" cmpd="sng">
            <a:solidFill>
              <a:schemeClr val="lt1"/>
            </a:solidFill>
            <a:prstDash val="solid"/>
            <a:round/>
            <a:headEnd type="oval" w="med" len="med"/>
            <a:tailEnd type="oval"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1pPr>
            <a:lvl2pPr lvl="1"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2pPr>
            <a:lvl3pPr lvl="2"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3pPr>
            <a:lvl4pPr lvl="3"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4pPr>
            <a:lvl5pPr lvl="4"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5pPr>
            <a:lvl6pPr lvl="5"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6pPr>
            <a:lvl7pPr lvl="6"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7pPr>
            <a:lvl8pPr lvl="7"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8pPr>
            <a:lvl9pPr lvl="8"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marL="914400" lvl="1"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marL="1371600" lvl="2"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marL="1828800" lvl="3"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marL="2286000" lvl="4"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marL="2743200" lvl="5"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marL="3200400" lvl="6"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marL="3657600" lvl="7"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marL="4114800" lvl="8" indent="-3175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5" r:id="rId3"/>
    <p:sldLayoutId id="2147483657" r:id="rId4"/>
    <p:sldLayoutId id="2147483658" r:id="rId5"/>
    <p:sldLayoutId id="2147483660" r:id="rId6"/>
    <p:sldLayoutId id="2147483664" r:id="rId7"/>
    <p:sldLayoutId id="2147483670" r:id="rId8"/>
    <p:sldLayoutId id="2147483671"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4"/>
        <p:cNvGrpSpPr/>
        <p:nvPr/>
      </p:nvGrpSpPr>
      <p:grpSpPr>
        <a:xfrm>
          <a:off x="0" y="0"/>
          <a:ext cx="0" cy="0"/>
          <a:chOff x="0" y="0"/>
          <a:chExt cx="0" cy="0"/>
        </a:xfrm>
      </p:grpSpPr>
      <p:sp>
        <p:nvSpPr>
          <p:cNvPr id="285" name="Google Shape;285;p29"/>
          <p:cNvSpPr txBox="1">
            <a:spLocks noGrp="1"/>
          </p:cNvSpPr>
          <p:nvPr>
            <p:ph type="ctrTitle"/>
          </p:nvPr>
        </p:nvSpPr>
        <p:spPr>
          <a:xfrm>
            <a:off x="1482300" y="777433"/>
            <a:ext cx="6172200" cy="99870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800" dirty="0"/>
              <a:t>Establishing a Just,</a:t>
            </a:r>
            <a:br>
              <a:rPr lang="en-US" sz="4800" dirty="0"/>
            </a:br>
            <a:endParaRPr sz="3200" dirty="0">
              <a:solidFill>
                <a:schemeClr val="bg1"/>
              </a:solidFill>
            </a:endParaRPr>
          </a:p>
        </p:txBody>
      </p:sp>
      <p:sp>
        <p:nvSpPr>
          <p:cNvPr id="286" name="Google Shape;286;p29"/>
          <p:cNvSpPr txBox="1">
            <a:spLocks noGrp="1"/>
          </p:cNvSpPr>
          <p:nvPr>
            <p:ph type="subTitle" idx="1"/>
          </p:nvPr>
        </p:nvSpPr>
        <p:spPr>
          <a:xfrm>
            <a:off x="1609200" y="3573775"/>
            <a:ext cx="5942700" cy="47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Nardos Gebremedhin</a:t>
            </a:r>
            <a:endParaRPr dirty="0"/>
          </a:p>
        </p:txBody>
      </p:sp>
      <p:cxnSp>
        <p:nvCxnSpPr>
          <p:cNvPr id="287" name="Google Shape;287;p29"/>
          <p:cNvCxnSpPr/>
          <p:nvPr/>
        </p:nvCxnSpPr>
        <p:spPr>
          <a:xfrm rot="10800000" flipH="1">
            <a:off x="1600600" y="2544888"/>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288" name="Google Shape;288;p29"/>
          <p:cNvCxnSpPr/>
          <p:nvPr/>
        </p:nvCxnSpPr>
        <p:spPr>
          <a:xfrm rot="10800000" flipH="1">
            <a:off x="1600600" y="1348663"/>
            <a:ext cx="5942700" cy="6600"/>
          </a:xfrm>
          <a:prstGeom prst="straightConnector1">
            <a:avLst/>
          </a:prstGeom>
          <a:noFill/>
          <a:ln w="19050" cap="flat" cmpd="sng">
            <a:solidFill>
              <a:schemeClr val="lt1"/>
            </a:solidFill>
            <a:prstDash val="solid"/>
            <a:round/>
            <a:headEnd type="oval" w="med" len="med"/>
            <a:tailEnd type="oval" w="med" len="med"/>
          </a:ln>
        </p:spPr>
      </p:cxnSp>
      <p:sp>
        <p:nvSpPr>
          <p:cNvPr id="3" name="TextBox 2">
            <a:extLst>
              <a:ext uri="{FF2B5EF4-FFF2-40B4-BE49-F238E27FC236}">
                <a16:creationId xmlns:a16="http://schemas.microsoft.com/office/drawing/2014/main" id="{9D41C907-4664-74C2-3608-F716E63AD524}"/>
              </a:ext>
            </a:extLst>
          </p:cNvPr>
          <p:cNvSpPr txBox="1"/>
          <p:nvPr/>
        </p:nvSpPr>
        <p:spPr>
          <a:xfrm>
            <a:off x="2006632" y="1776137"/>
            <a:ext cx="5353050" cy="830997"/>
          </a:xfrm>
          <a:prstGeom prst="rect">
            <a:avLst/>
          </a:prstGeom>
          <a:noFill/>
        </p:spPr>
        <p:txBody>
          <a:bodyPr wrap="square">
            <a:spAutoFit/>
          </a:bodyPr>
          <a:lstStyle/>
          <a:p>
            <a:r>
              <a:rPr lang="en-US" sz="4800" dirty="0">
                <a:solidFill>
                  <a:schemeClr val="bg2"/>
                </a:solidFill>
              </a:rPr>
              <a:t>Learning Culture</a:t>
            </a:r>
          </a:p>
        </p:txBody>
      </p:sp>
      <p:sp>
        <p:nvSpPr>
          <p:cNvPr id="4" name="Google Shape;290;p29">
            <a:extLst>
              <a:ext uri="{FF2B5EF4-FFF2-40B4-BE49-F238E27FC236}">
                <a16:creationId xmlns:a16="http://schemas.microsoft.com/office/drawing/2014/main" id="{4985A086-0A58-0073-DE3F-0B6FA2C7F2F1}"/>
              </a:ext>
            </a:extLst>
          </p:cNvPr>
          <p:cNvSpPr/>
          <p:nvPr/>
        </p:nvSpPr>
        <p:spPr>
          <a:xfrm>
            <a:off x="7415100" y="514451"/>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90;p29">
            <a:extLst>
              <a:ext uri="{FF2B5EF4-FFF2-40B4-BE49-F238E27FC236}">
                <a16:creationId xmlns:a16="http://schemas.microsoft.com/office/drawing/2014/main" id="{0C3099AB-94B1-D050-F3B3-DBD6C3D71132}"/>
              </a:ext>
            </a:extLst>
          </p:cNvPr>
          <p:cNvSpPr/>
          <p:nvPr/>
        </p:nvSpPr>
        <p:spPr>
          <a:xfrm>
            <a:off x="938100" y="2425188"/>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4"/>
          <p:cNvSpPr txBox="1">
            <a:spLocks noGrp="1"/>
          </p:cNvSpPr>
          <p:nvPr>
            <p:ph type="subTitle" idx="1"/>
          </p:nvPr>
        </p:nvSpPr>
        <p:spPr>
          <a:xfrm>
            <a:off x="953305" y="1346746"/>
            <a:ext cx="7204200" cy="3419218"/>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400" dirty="0"/>
              <a:t>A Just Culture is an organizational mindset and framework that balances accountability with learning</a:t>
            </a:r>
          </a:p>
          <a:p>
            <a:pPr marL="0" lvl="0" indent="0" algn="l" rtl="0">
              <a:spcBef>
                <a:spcPts val="0"/>
              </a:spcBef>
              <a:spcAft>
                <a:spcPts val="0"/>
              </a:spcAft>
            </a:pPr>
            <a:endParaRPr lang="en-US" sz="1400" dirty="0"/>
          </a:p>
          <a:p>
            <a:pPr marL="285750" lvl="0" indent="-285750" algn="l" rtl="0">
              <a:spcBef>
                <a:spcPts val="0"/>
              </a:spcBef>
              <a:spcAft>
                <a:spcPts val="0"/>
              </a:spcAft>
              <a:buFont typeface="Wingdings" panose="05000000000000000000" pitchFamily="2" charset="2"/>
              <a:buChar char="§"/>
            </a:pPr>
            <a:r>
              <a:rPr lang="en-US" sz="1400" b="1" dirty="0"/>
              <a:t>Not about punishment</a:t>
            </a:r>
            <a:r>
              <a:rPr lang="en-US" sz="1400" dirty="0"/>
              <a:t>: avoids automatic blame or retribution</a:t>
            </a:r>
          </a:p>
          <a:p>
            <a:pPr marL="0" lvl="0" indent="0" algn="l" rtl="0">
              <a:spcBef>
                <a:spcPts val="0"/>
              </a:spcBef>
              <a:spcAft>
                <a:spcPts val="0"/>
              </a:spcAft>
            </a:pPr>
            <a:endParaRPr lang="en-US" sz="1400" dirty="0"/>
          </a:p>
          <a:p>
            <a:pPr marL="285750" lvl="0" indent="-285750" algn="l" rtl="0">
              <a:spcBef>
                <a:spcPts val="0"/>
              </a:spcBef>
              <a:spcAft>
                <a:spcPts val="0"/>
              </a:spcAft>
              <a:buFont typeface="Wingdings" panose="05000000000000000000" pitchFamily="2" charset="2"/>
              <a:buChar char="§"/>
            </a:pPr>
            <a:r>
              <a:rPr lang="en-US" sz="1400" b="1" dirty="0"/>
              <a:t>Restorative justice</a:t>
            </a:r>
            <a:r>
              <a:rPr lang="en-US" sz="1400" dirty="0"/>
              <a:t>: understands why mistakes happen, addresses systemic issues, supports improvement</a:t>
            </a:r>
          </a:p>
          <a:p>
            <a:pPr marL="0" lvl="0" indent="0" algn="l" rtl="0">
              <a:spcBef>
                <a:spcPts val="0"/>
              </a:spcBef>
              <a:spcAft>
                <a:spcPts val="0"/>
              </a:spcAft>
            </a:pPr>
            <a:endParaRPr lang="en-US" sz="1400" dirty="0"/>
          </a:p>
          <a:p>
            <a:pPr marL="285750" lvl="0" indent="-285750" algn="l" rtl="0">
              <a:spcBef>
                <a:spcPts val="0"/>
              </a:spcBef>
              <a:spcAft>
                <a:spcPts val="0"/>
              </a:spcAft>
              <a:buFont typeface="Wingdings" panose="05000000000000000000" pitchFamily="2" charset="2"/>
              <a:buChar char="§"/>
            </a:pPr>
            <a:r>
              <a:rPr lang="en-US" sz="1400" b="1" dirty="0"/>
              <a:t>Encourages openness</a:t>
            </a:r>
            <a:r>
              <a:rPr lang="en-US" sz="1400" dirty="0"/>
              <a:t>: safe reporting without fear of unfair punishment</a:t>
            </a:r>
          </a:p>
          <a:p>
            <a:pPr marL="0" lvl="0" indent="0" algn="l" rtl="0">
              <a:spcBef>
                <a:spcPts val="0"/>
              </a:spcBef>
              <a:spcAft>
                <a:spcPts val="0"/>
              </a:spcAft>
            </a:pPr>
            <a:endParaRPr lang="en-US" sz="1400" dirty="0"/>
          </a:p>
          <a:p>
            <a:pPr marL="285750" lvl="0" indent="-285750" algn="l" rtl="0">
              <a:spcBef>
                <a:spcPts val="0"/>
              </a:spcBef>
              <a:spcAft>
                <a:spcPts val="0"/>
              </a:spcAft>
              <a:buFont typeface="Wingdings" panose="05000000000000000000" pitchFamily="2" charset="2"/>
              <a:buChar char="§"/>
            </a:pPr>
            <a:r>
              <a:rPr lang="en-US" sz="1400" b="1" dirty="0"/>
              <a:t>Improves safety</a:t>
            </a:r>
            <a:r>
              <a:rPr lang="en-US" sz="1400" dirty="0"/>
              <a:t>: transparency enables learning, reduces risks, prevents harm</a:t>
            </a:r>
          </a:p>
          <a:p>
            <a:pPr marL="0" lvl="0" indent="0" algn="l" rtl="0">
              <a:spcBef>
                <a:spcPts val="0"/>
              </a:spcBef>
              <a:spcAft>
                <a:spcPts val="0"/>
              </a:spcAft>
            </a:pPr>
            <a:endParaRPr lang="en-US" sz="1400" dirty="0"/>
          </a:p>
          <a:p>
            <a:pPr marL="285750" lvl="0" indent="-285750" algn="l" rtl="0">
              <a:spcBef>
                <a:spcPts val="0"/>
              </a:spcBef>
              <a:spcAft>
                <a:spcPts val="0"/>
              </a:spcAft>
              <a:buFont typeface="Wingdings" panose="05000000000000000000" pitchFamily="2" charset="2"/>
              <a:buChar char="§"/>
            </a:pPr>
            <a:r>
              <a:rPr lang="en-US" sz="1400" b="1" dirty="0"/>
              <a:t>Core principle</a:t>
            </a:r>
            <a:r>
              <a:rPr lang="en-US" sz="1400" dirty="0"/>
              <a:t>: human error is inevitable; response determines safety outcomes</a:t>
            </a:r>
          </a:p>
        </p:txBody>
      </p:sp>
      <p:sp>
        <p:nvSpPr>
          <p:cNvPr id="354" name="Google Shape;354;p34"/>
          <p:cNvSpPr txBox="1">
            <a:spLocks noGrp="1"/>
          </p:cNvSpPr>
          <p:nvPr>
            <p:ph type="title"/>
          </p:nvPr>
        </p:nvSpPr>
        <p:spPr>
          <a:xfrm>
            <a:off x="1074932" y="597732"/>
            <a:ext cx="7204200" cy="531900"/>
          </a:xfrm>
          <a:prstGeom prst="rect">
            <a:avLst/>
          </a:prstGeom>
          <a:ln>
            <a:noFill/>
          </a:ln>
        </p:spPr>
        <p:txBody>
          <a:bodyPr spcFirstLastPara="1" wrap="square" lIns="91425" tIns="91425" rIns="91425" bIns="91425" anchor="ctr" anchorCtr="0">
            <a:noAutofit/>
          </a:bodyPr>
          <a:lstStyle/>
          <a:p>
            <a:pPr marL="0" lvl="0" indent="0"/>
            <a:r>
              <a:rPr lang="en-US" sz="3200" dirty="0"/>
              <a:t>What is a “Just Culture”?</a:t>
            </a:r>
          </a:p>
        </p:txBody>
      </p:sp>
      <p:sp>
        <p:nvSpPr>
          <p:cNvPr id="355" name="Google Shape;355;p34"/>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90E728-3C9D-13E4-3E68-410D019F2CE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3</a:t>
            </a:fld>
            <a:endParaRPr lang="en"/>
          </a:p>
        </p:txBody>
      </p:sp>
      <p:sp>
        <p:nvSpPr>
          <p:cNvPr id="3" name="Title 2">
            <a:extLst>
              <a:ext uri="{FF2B5EF4-FFF2-40B4-BE49-F238E27FC236}">
                <a16:creationId xmlns:a16="http://schemas.microsoft.com/office/drawing/2014/main" id="{521B9644-D7DB-FB0E-1453-A0417A91ABDE}"/>
              </a:ext>
            </a:extLst>
          </p:cNvPr>
          <p:cNvSpPr>
            <a:spLocks noGrp="1"/>
          </p:cNvSpPr>
          <p:nvPr>
            <p:ph type="title"/>
          </p:nvPr>
        </p:nvSpPr>
        <p:spPr>
          <a:xfrm>
            <a:off x="1429472" y="459907"/>
            <a:ext cx="6051982" cy="877057"/>
          </a:xfrm>
        </p:spPr>
        <p:txBody>
          <a:bodyPr/>
          <a:lstStyle/>
          <a:p>
            <a:r>
              <a:rPr lang="en-US" sz="3200" dirty="0"/>
              <a:t>Challenges</a:t>
            </a:r>
          </a:p>
        </p:txBody>
      </p:sp>
      <p:sp>
        <p:nvSpPr>
          <p:cNvPr id="5" name="TextBox 4">
            <a:extLst>
              <a:ext uri="{FF2B5EF4-FFF2-40B4-BE49-F238E27FC236}">
                <a16:creationId xmlns:a16="http://schemas.microsoft.com/office/drawing/2014/main" id="{0D1B15DF-5E85-2BE3-D5AF-3DB0D0FB86C2}"/>
              </a:ext>
            </a:extLst>
          </p:cNvPr>
          <p:cNvSpPr txBox="1"/>
          <p:nvPr/>
        </p:nvSpPr>
        <p:spPr>
          <a:xfrm>
            <a:off x="603899" y="1336964"/>
            <a:ext cx="7703127" cy="2798651"/>
          </a:xfrm>
          <a:prstGeom prst="rect">
            <a:avLst/>
          </a:prstGeom>
          <a:noFill/>
        </p:spPr>
        <p:txBody>
          <a:bodyPr wrap="square">
            <a:spAutoFit/>
          </a:bodyPr>
          <a:lstStyle/>
          <a:p>
            <a:pPr marL="285750" indent="-285750">
              <a:lnSpc>
                <a:spcPct val="115000"/>
              </a:lnSpc>
              <a:buClr>
                <a:schemeClr val="dk1"/>
              </a:buClr>
              <a:buSzPts val="3000"/>
              <a:buFont typeface="Wingdings" panose="05000000000000000000" pitchFamily="2" charset="2"/>
              <a:buChar char="§"/>
            </a:pPr>
            <a:r>
              <a:rPr lang="en-US" b="1" dirty="0">
                <a:solidFill>
                  <a:schemeClr val="dk1"/>
                </a:solidFill>
                <a:latin typeface="Mulish"/>
                <a:sym typeface="Mulish"/>
              </a:rPr>
              <a:t>Superficial adoption: </a:t>
            </a:r>
            <a:r>
              <a:rPr lang="en-US" dirty="0">
                <a:solidFill>
                  <a:schemeClr val="dk1"/>
                </a:solidFill>
                <a:latin typeface="Mulish"/>
                <a:sym typeface="Mulish"/>
              </a:rPr>
              <a:t>Practices are often imposed without addressing deeper values, behaviours, and systems</a:t>
            </a:r>
          </a:p>
          <a:p>
            <a:pPr marL="285750" indent="-285750">
              <a:lnSpc>
                <a:spcPct val="115000"/>
              </a:lnSpc>
              <a:buClr>
                <a:schemeClr val="dk1"/>
              </a:buClr>
              <a:buSzPts val="3000"/>
              <a:buFont typeface="Wingdings" panose="05000000000000000000" pitchFamily="2" charset="2"/>
              <a:buChar char="§"/>
            </a:pPr>
            <a:endParaRPr lang="en-US" dirty="0">
              <a:solidFill>
                <a:schemeClr val="dk1"/>
              </a:solidFill>
              <a:latin typeface="Mulish"/>
              <a:sym typeface="Mulish"/>
            </a:endParaRPr>
          </a:p>
          <a:p>
            <a:pPr marL="285750" indent="-285750">
              <a:lnSpc>
                <a:spcPct val="115000"/>
              </a:lnSpc>
              <a:buClr>
                <a:schemeClr val="dk1"/>
              </a:buClr>
              <a:buSzPts val="3000"/>
              <a:buFont typeface="Wingdings" panose="05000000000000000000" pitchFamily="2" charset="2"/>
              <a:buChar char="§"/>
            </a:pPr>
            <a:r>
              <a:rPr lang="en-US" b="1" dirty="0">
                <a:solidFill>
                  <a:schemeClr val="dk1"/>
                </a:solidFill>
                <a:latin typeface="Mulish"/>
              </a:rPr>
              <a:t>External pressures: </a:t>
            </a:r>
            <a:r>
              <a:rPr lang="en-US" dirty="0">
                <a:solidFill>
                  <a:schemeClr val="dk1"/>
                </a:solidFill>
                <a:latin typeface="Mulish"/>
              </a:rPr>
              <a:t>Legal, regulatory, and media environments often push organizations back toward blame and scapegoating</a:t>
            </a:r>
          </a:p>
          <a:p>
            <a:pPr marL="285750" indent="-285750">
              <a:lnSpc>
                <a:spcPct val="115000"/>
              </a:lnSpc>
              <a:buClr>
                <a:schemeClr val="dk1"/>
              </a:buClr>
              <a:buSzPts val="3000"/>
              <a:buFont typeface="Wingdings" panose="05000000000000000000" pitchFamily="2" charset="2"/>
              <a:buChar char="§"/>
            </a:pPr>
            <a:endParaRPr lang="en-US" dirty="0">
              <a:solidFill>
                <a:schemeClr val="dk1"/>
              </a:solidFill>
              <a:latin typeface="Mulish"/>
            </a:endParaRPr>
          </a:p>
          <a:p>
            <a:pPr marL="285750" indent="-285750">
              <a:lnSpc>
                <a:spcPct val="115000"/>
              </a:lnSpc>
              <a:buClr>
                <a:schemeClr val="dk1"/>
              </a:buClr>
              <a:buSzPts val="3000"/>
              <a:buFont typeface="Wingdings" panose="05000000000000000000" pitchFamily="2" charset="2"/>
              <a:buChar char="§"/>
            </a:pPr>
            <a:r>
              <a:rPr lang="en-US" b="1" dirty="0">
                <a:solidFill>
                  <a:schemeClr val="dk1"/>
                </a:solidFill>
                <a:latin typeface="Mulish"/>
              </a:rPr>
              <a:t>Focus on failures only: </a:t>
            </a:r>
            <a:r>
              <a:rPr lang="en-US" dirty="0">
                <a:solidFill>
                  <a:schemeClr val="dk1"/>
                </a:solidFill>
                <a:latin typeface="Mulish"/>
              </a:rPr>
              <a:t>Just Culture tends to emphasize learning from harm rather than also studying successes</a:t>
            </a:r>
          </a:p>
          <a:p>
            <a:pPr marL="285750" indent="-285750">
              <a:lnSpc>
                <a:spcPct val="115000"/>
              </a:lnSpc>
              <a:buClr>
                <a:schemeClr val="dk1"/>
              </a:buClr>
              <a:buSzPts val="3000"/>
              <a:buFont typeface="Wingdings" panose="05000000000000000000" pitchFamily="2" charset="2"/>
              <a:buChar char="§"/>
            </a:pPr>
            <a:endParaRPr lang="en-US" dirty="0">
              <a:solidFill>
                <a:schemeClr val="dk1"/>
              </a:solidFill>
              <a:latin typeface="Mulish"/>
            </a:endParaRPr>
          </a:p>
          <a:p>
            <a:pPr marL="285750" indent="-285750">
              <a:lnSpc>
                <a:spcPct val="115000"/>
              </a:lnSpc>
              <a:buClr>
                <a:schemeClr val="dk1"/>
              </a:buClr>
              <a:buSzPts val="3000"/>
              <a:buFont typeface="Wingdings" panose="05000000000000000000" pitchFamily="2" charset="2"/>
              <a:buChar char="§"/>
            </a:pPr>
            <a:r>
              <a:rPr lang="en-US" b="1" dirty="0">
                <a:solidFill>
                  <a:schemeClr val="dk1"/>
                </a:solidFill>
                <a:latin typeface="Mulish"/>
              </a:rPr>
              <a:t>Difficulty embedding sustainably: </a:t>
            </a:r>
            <a:r>
              <a:rPr lang="en-US" dirty="0">
                <a:solidFill>
                  <a:schemeClr val="dk1"/>
                </a:solidFill>
                <a:latin typeface="Mulish"/>
              </a:rPr>
              <a:t>Many organizations struggle to make Just Culture “stick” and revert to punitive methods</a:t>
            </a:r>
            <a:endParaRPr lang="en-US" dirty="0">
              <a:solidFill>
                <a:schemeClr val="dk1"/>
              </a:solidFill>
              <a:latin typeface="Mulish"/>
              <a:sym typeface="Mulish"/>
            </a:endParaRPr>
          </a:p>
        </p:txBody>
      </p:sp>
    </p:spTree>
    <p:extLst>
      <p:ext uri="{BB962C8B-B14F-4D97-AF65-F5344CB8AC3E}">
        <p14:creationId xmlns:p14="http://schemas.microsoft.com/office/powerpoint/2010/main" val="1007010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66B96-03AB-A8BB-7D65-B49E699FCC3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F4548D-39B9-EC60-3865-6125A491770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4</a:t>
            </a:fld>
            <a:endParaRPr lang="en"/>
          </a:p>
        </p:txBody>
      </p:sp>
      <p:sp>
        <p:nvSpPr>
          <p:cNvPr id="3" name="Title 2">
            <a:extLst>
              <a:ext uri="{FF2B5EF4-FFF2-40B4-BE49-F238E27FC236}">
                <a16:creationId xmlns:a16="http://schemas.microsoft.com/office/drawing/2014/main" id="{CEF6F0CC-9EE6-DC28-2683-EF4B488D79A8}"/>
              </a:ext>
            </a:extLst>
          </p:cNvPr>
          <p:cNvSpPr>
            <a:spLocks noGrp="1"/>
          </p:cNvSpPr>
          <p:nvPr>
            <p:ph type="title"/>
          </p:nvPr>
        </p:nvSpPr>
        <p:spPr>
          <a:xfrm>
            <a:off x="1429472" y="459907"/>
            <a:ext cx="6051982" cy="877057"/>
          </a:xfrm>
        </p:spPr>
        <p:txBody>
          <a:bodyPr/>
          <a:lstStyle/>
          <a:p>
            <a:r>
              <a:rPr lang="en-US" sz="3200" dirty="0"/>
              <a:t>what a Just Culture looks like</a:t>
            </a:r>
          </a:p>
        </p:txBody>
      </p:sp>
      <p:sp>
        <p:nvSpPr>
          <p:cNvPr id="5" name="TextBox 4">
            <a:extLst>
              <a:ext uri="{FF2B5EF4-FFF2-40B4-BE49-F238E27FC236}">
                <a16:creationId xmlns:a16="http://schemas.microsoft.com/office/drawing/2014/main" id="{C4240125-1825-85B9-EBBD-56843AB85BF3}"/>
              </a:ext>
            </a:extLst>
          </p:cNvPr>
          <p:cNvSpPr txBox="1"/>
          <p:nvPr/>
        </p:nvSpPr>
        <p:spPr>
          <a:xfrm>
            <a:off x="583118" y="1336964"/>
            <a:ext cx="7812737" cy="1769523"/>
          </a:xfrm>
          <a:prstGeom prst="rect">
            <a:avLst/>
          </a:prstGeom>
          <a:noFill/>
        </p:spPr>
        <p:txBody>
          <a:bodyPr wrap="square">
            <a:spAutoFit/>
          </a:bodyPr>
          <a:lstStyle/>
          <a:p>
            <a:pPr>
              <a:lnSpc>
                <a:spcPct val="115000"/>
              </a:lnSpc>
              <a:buClr>
                <a:schemeClr val="dk1"/>
              </a:buClr>
              <a:buSzPts val="3000"/>
            </a:pPr>
            <a:r>
              <a:rPr lang="en-US" sz="1600" dirty="0">
                <a:solidFill>
                  <a:schemeClr val="dk1"/>
                </a:solidFill>
                <a:latin typeface="Mulish"/>
              </a:rPr>
              <a:t>Based on Ashish Jain’s description, a “Just Culture” in tech balances accountability with learning, while examining the processes, tools, and structures behind mistakes. Employees feel safe to report issues without fear, and the organization supports innovation and complex problem‑solving. Leaders and teams openly share failures, turning them into opportunities for growth and continuous improvement.</a:t>
            </a:r>
            <a:endParaRPr lang="en-US" sz="1600" dirty="0">
              <a:solidFill>
                <a:schemeClr val="dk1"/>
              </a:solidFill>
              <a:latin typeface="Mulish"/>
              <a:sym typeface="Mulish"/>
            </a:endParaRPr>
          </a:p>
        </p:txBody>
      </p:sp>
    </p:spTree>
    <p:extLst>
      <p:ext uri="{BB962C8B-B14F-4D97-AF65-F5344CB8AC3E}">
        <p14:creationId xmlns:p14="http://schemas.microsoft.com/office/powerpoint/2010/main" val="432160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a:buSzPts val="9600"/>
            </a:pPr>
            <a:r>
              <a:rPr lang="en-US" sz="3200" dirty="0">
                <a:solidFill>
                  <a:schemeClr val="dk2"/>
                </a:solidFill>
              </a:rPr>
              <a:t>How to Start a Just culture</a:t>
            </a:r>
            <a:endParaRPr sz="3200" dirty="0">
              <a:solidFill>
                <a:schemeClr val="dk2"/>
              </a:solidFill>
            </a:endParaRPr>
          </a:p>
        </p:txBody>
      </p:sp>
      <p:sp>
        <p:nvSpPr>
          <p:cNvPr id="342" name="Google Shape;342;p33"/>
          <p:cNvSpPr txBox="1">
            <a:spLocks noGrp="1"/>
          </p:cNvSpPr>
          <p:nvPr>
            <p:ph type="subTitle" idx="1"/>
          </p:nvPr>
        </p:nvSpPr>
        <p:spPr>
          <a:xfrm>
            <a:off x="647584" y="1166255"/>
            <a:ext cx="7848831" cy="3770220"/>
          </a:xfrm>
          <a:prstGeom prst="rect">
            <a:avLst/>
          </a:prstGeom>
        </p:spPr>
        <p:txBody>
          <a:bodyPr spcFirstLastPara="1" wrap="square" lIns="91425" tIns="91425" rIns="91425" bIns="91425" anchor="t" anchorCtr="0">
            <a:noAutofit/>
          </a:bodyPr>
          <a:lstStyle/>
          <a:p>
            <a:pPr marL="425450" indent="-285750">
              <a:buFont typeface="Wingdings" panose="05000000000000000000" pitchFamily="2" charset="2"/>
              <a:buChar char="§"/>
            </a:pPr>
            <a:r>
              <a:rPr lang="en-US" b="1" dirty="0"/>
              <a:t>Model openness at the top: </a:t>
            </a:r>
            <a:r>
              <a:rPr lang="en-US" dirty="0"/>
              <a:t>Leaders share mistakes and lessons learned to set the tone</a:t>
            </a:r>
          </a:p>
          <a:p>
            <a:pPr marL="425450" indent="-285750">
              <a:buFont typeface="Wingdings" panose="05000000000000000000" pitchFamily="2" charset="2"/>
              <a:buChar char="§"/>
            </a:pPr>
            <a:endParaRPr lang="en-US" dirty="0"/>
          </a:p>
          <a:p>
            <a:pPr marL="425450" indent="-285750">
              <a:buFont typeface="Wingdings" panose="05000000000000000000" pitchFamily="2" charset="2"/>
              <a:buChar char="§"/>
            </a:pPr>
            <a:r>
              <a:rPr lang="en-US" b="1" dirty="0"/>
              <a:t>Distinguish behaviors: </a:t>
            </a:r>
            <a:r>
              <a:rPr lang="en-US" dirty="0"/>
              <a:t>Separate human error from reckless actions; respond fairly and proportionally</a:t>
            </a:r>
          </a:p>
          <a:p>
            <a:pPr marL="425450" indent="-285750">
              <a:buFont typeface="Wingdings" panose="05000000000000000000" pitchFamily="2" charset="2"/>
              <a:buChar char="§"/>
            </a:pPr>
            <a:endParaRPr lang="en-US" dirty="0"/>
          </a:p>
          <a:p>
            <a:pPr marL="425450" indent="-285750">
              <a:buFont typeface="Wingdings" panose="05000000000000000000" pitchFamily="2" charset="2"/>
              <a:buChar char="§"/>
            </a:pPr>
            <a:r>
              <a:rPr lang="en-US" b="1" dirty="0"/>
              <a:t>Encourage reporting: </a:t>
            </a:r>
            <a:r>
              <a:rPr lang="en-US" dirty="0"/>
              <a:t>Create a safe environment for employees to raise issues without fear of punishment</a:t>
            </a:r>
          </a:p>
          <a:p>
            <a:pPr marL="425450" indent="-285750">
              <a:buFont typeface="Wingdings" panose="05000000000000000000" pitchFamily="2" charset="2"/>
              <a:buChar char="§"/>
            </a:pPr>
            <a:endParaRPr lang="en-US" dirty="0"/>
          </a:p>
          <a:p>
            <a:pPr marL="425450" indent="-285750">
              <a:buFont typeface="Wingdings" panose="05000000000000000000" pitchFamily="2" charset="2"/>
              <a:buChar char="§"/>
            </a:pPr>
            <a:r>
              <a:rPr lang="en-US" b="1" dirty="0"/>
              <a:t>Focus on systems, not individuals: </a:t>
            </a:r>
            <a:r>
              <a:rPr lang="en-US" dirty="0"/>
              <a:t>Analyze processes, tools, and structures behind mistakes instead of blaming people</a:t>
            </a:r>
          </a:p>
          <a:p>
            <a:pPr marL="425450" indent="-285750">
              <a:buFont typeface="Wingdings" panose="05000000000000000000" pitchFamily="2" charset="2"/>
              <a:buChar char="§"/>
            </a:pPr>
            <a:endParaRPr lang="en-US" dirty="0"/>
          </a:p>
          <a:p>
            <a:pPr marL="425450" indent="-285750">
              <a:buFont typeface="Wingdings" panose="05000000000000000000" pitchFamily="2" charset="2"/>
              <a:buChar char="§"/>
            </a:pPr>
            <a:r>
              <a:rPr lang="en-US" b="1" dirty="0"/>
              <a:t>Build team rituals: </a:t>
            </a:r>
            <a:r>
              <a:rPr lang="en-US" dirty="0"/>
              <a:t>Use blameless postmortems and open discussions to normalize learning from failure</a:t>
            </a:r>
          </a:p>
          <a:p>
            <a:pPr marL="139700" indent="0"/>
            <a:endParaRPr lang="en-US" sz="1600" dirty="0">
              <a:effectLst/>
            </a:endParaRPr>
          </a:p>
        </p:txBody>
      </p:sp>
      <p:sp>
        <p:nvSpPr>
          <p:cNvPr id="348" name="Google Shape;348;p3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4" name="Google Shape;364;p35"/>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6</a:t>
            </a:fld>
            <a:endParaRPr/>
          </a:p>
        </p:txBody>
      </p:sp>
      <p:sp>
        <p:nvSpPr>
          <p:cNvPr id="4" name="Google Shape;354;p34">
            <a:extLst>
              <a:ext uri="{FF2B5EF4-FFF2-40B4-BE49-F238E27FC236}">
                <a16:creationId xmlns:a16="http://schemas.microsoft.com/office/drawing/2014/main" id="{01809D47-E82C-8D31-A856-20453DAE7084}"/>
              </a:ext>
            </a:extLst>
          </p:cNvPr>
          <p:cNvSpPr txBox="1">
            <a:spLocks/>
          </p:cNvSpPr>
          <p:nvPr/>
        </p:nvSpPr>
        <p:spPr>
          <a:xfrm>
            <a:off x="1074932" y="597732"/>
            <a:ext cx="7204200" cy="531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9600"/>
              <a:buFont typeface="Quicksand"/>
              <a:buNone/>
              <a:defRPr sz="6000" b="1" i="0" u="none" strike="noStrike" cap="none">
                <a:solidFill>
                  <a:schemeClr val="dk2"/>
                </a:solidFill>
                <a:latin typeface="Quicksand"/>
                <a:ea typeface="Quicksand"/>
                <a:cs typeface="Quicksand"/>
                <a:sym typeface="Quicksand"/>
              </a:defRPr>
            </a:lvl1pPr>
            <a:lvl2pPr marR="0" lvl="1" algn="ctr" rtl="0">
              <a:lnSpc>
                <a:spcPct val="100000"/>
              </a:lnSpc>
              <a:spcBef>
                <a:spcPts val="0"/>
              </a:spcBef>
              <a:spcAft>
                <a:spcPts val="0"/>
              </a:spcAft>
              <a:buClr>
                <a:schemeClr val="dk1"/>
              </a:buClr>
              <a:buSzPts val="9600"/>
              <a:buFont typeface="Quicksand"/>
              <a:buNone/>
              <a:defRPr sz="9600" b="1" i="0" u="none" strike="noStrike" cap="none">
                <a:solidFill>
                  <a:schemeClr val="dk1"/>
                </a:solidFill>
                <a:latin typeface="Quicksand"/>
                <a:ea typeface="Quicksand"/>
                <a:cs typeface="Quicksand"/>
                <a:sym typeface="Quicksand"/>
              </a:defRPr>
            </a:lvl2pPr>
            <a:lvl3pPr marR="0" lvl="2" algn="ctr" rtl="0">
              <a:lnSpc>
                <a:spcPct val="100000"/>
              </a:lnSpc>
              <a:spcBef>
                <a:spcPts val="0"/>
              </a:spcBef>
              <a:spcAft>
                <a:spcPts val="0"/>
              </a:spcAft>
              <a:buClr>
                <a:schemeClr val="dk1"/>
              </a:buClr>
              <a:buSzPts val="9600"/>
              <a:buFont typeface="Quicksand"/>
              <a:buNone/>
              <a:defRPr sz="9600" b="1" i="0" u="none" strike="noStrike" cap="none">
                <a:solidFill>
                  <a:schemeClr val="dk1"/>
                </a:solidFill>
                <a:latin typeface="Quicksand"/>
                <a:ea typeface="Quicksand"/>
                <a:cs typeface="Quicksand"/>
                <a:sym typeface="Quicksand"/>
              </a:defRPr>
            </a:lvl3pPr>
            <a:lvl4pPr marR="0" lvl="3" algn="ctr" rtl="0">
              <a:lnSpc>
                <a:spcPct val="100000"/>
              </a:lnSpc>
              <a:spcBef>
                <a:spcPts val="0"/>
              </a:spcBef>
              <a:spcAft>
                <a:spcPts val="0"/>
              </a:spcAft>
              <a:buClr>
                <a:schemeClr val="dk1"/>
              </a:buClr>
              <a:buSzPts val="9600"/>
              <a:buFont typeface="Quicksand"/>
              <a:buNone/>
              <a:defRPr sz="9600" b="1" i="0" u="none" strike="noStrike" cap="none">
                <a:solidFill>
                  <a:schemeClr val="dk1"/>
                </a:solidFill>
                <a:latin typeface="Quicksand"/>
                <a:ea typeface="Quicksand"/>
                <a:cs typeface="Quicksand"/>
                <a:sym typeface="Quicksand"/>
              </a:defRPr>
            </a:lvl4pPr>
            <a:lvl5pPr marR="0" lvl="4" algn="ctr" rtl="0">
              <a:lnSpc>
                <a:spcPct val="100000"/>
              </a:lnSpc>
              <a:spcBef>
                <a:spcPts val="0"/>
              </a:spcBef>
              <a:spcAft>
                <a:spcPts val="0"/>
              </a:spcAft>
              <a:buClr>
                <a:schemeClr val="dk1"/>
              </a:buClr>
              <a:buSzPts val="9600"/>
              <a:buFont typeface="Quicksand"/>
              <a:buNone/>
              <a:defRPr sz="9600" b="1" i="0" u="none" strike="noStrike" cap="none">
                <a:solidFill>
                  <a:schemeClr val="dk1"/>
                </a:solidFill>
                <a:latin typeface="Quicksand"/>
                <a:ea typeface="Quicksand"/>
                <a:cs typeface="Quicksand"/>
                <a:sym typeface="Quicksand"/>
              </a:defRPr>
            </a:lvl5pPr>
            <a:lvl6pPr marR="0" lvl="5" algn="ctr" rtl="0">
              <a:lnSpc>
                <a:spcPct val="100000"/>
              </a:lnSpc>
              <a:spcBef>
                <a:spcPts val="0"/>
              </a:spcBef>
              <a:spcAft>
                <a:spcPts val="0"/>
              </a:spcAft>
              <a:buClr>
                <a:schemeClr val="dk1"/>
              </a:buClr>
              <a:buSzPts val="9600"/>
              <a:buFont typeface="Quicksand"/>
              <a:buNone/>
              <a:defRPr sz="9600" b="1" i="0" u="none" strike="noStrike" cap="none">
                <a:solidFill>
                  <a:schemeClr val="dk1"/>
                </a:solidFill>
                <a:latin typeface="Quicksand"/>
                <a:ea typeface="Quicksand"/>
                <a:cs typeface="Quicksand"/>
                <a:sym typeface="Quicksand"/>
              </a:defRPr>
            </a:lvl6pPr>
            <a:lvl7pPr marR="0" lvl="6" algn="ctr" rtl="0">
              <a:lnSpc>
                <a:spcPct val="100000"/>
              </a:lnSpc>
              <a:spcBef>
                <a:spcPts val="0"/>
              </a:spcBef>
              <a:spcAft>
                <a:spcPts val="0"/>
              </a:spcAft>
              <a:buClr>
                <a:schemeClr val="dk1"/>
              </a:buClr>
              <a:buSzPts val="9600"/>
              <a:buFont typeface="Quicksand"/>
              <a:buNone/>
              <a:defRPr sz="9600" b="1" i="0" u="none" strike="noStrike" cap="none">
                <a:solidFill>
                  <a:schemeClr val="dk1"/>
                </a:solidFill>
                <a:latin typeface="Quicksand"/>
                <a:ea typeface="Quicksand"/>
                <a:cs typeface="Quicksand"/>
                <a:sym typeface="Quicksand"/>
              </a:defRPr>
            </a:lvl7pPr>
            <a:lvl8pPr marR="0" lvl="7" algn="ctr" rtl="0">
              <a:lnSpc>
                <a:spcPct val="100000"/>
              </a:lnSpc>
              <a:spcBef>
                <a:spcPts val="0"/>
              </a:spcBef>
              <a:spcAft>
                <a:spcPts val="0"/>
              </a:spcAft>
              <a:buClr>
                <a:schemeClr val="dk1"/>
              </a:buClr>
              <a:buSzPts val="9600"/>
              <a:buFont typeface="Quicksand"/>
              <a:buNone/>
              <a:defRPr sz="9600" b="1" i="0" u="none" strike="noStrike" cap="none">
                <a:solidFill>
                  <a:schemeClr val="dk1"/>
                </a:solidFill>
                <a:latin typeface="Quicksand"/>
                <a:ea typeface="Quicksand"/>
                <a:cs typeface="Quicksand"/>
                <a:sym typeface="Quicksand"/>
              </a:defRPr>
            </a:lvl8pPr>
            <a:lvl9pPr marR="0" lvl="8" algn="ctr" rtl="0">
              <a:lnSpc>
                <a:spcPct val="100000"/>
              </a:lnSpc>
              <a:spcBef>
                <a:spcPts val="0"/>
              </a:spcBef>
              <a:spcAft>
                <a:spcPts val="0"/>
              </a:spcAft>
              <a:buClr>
                <a:schemeClr val="dk1"/>
              </a:buClr>
              <a:buSzPts val="9600"/>
              <a:buFont typeface="Quicksand"/>
              <a:buNone/>
              <a:defRPr sz="9600" b="1" i="0" u="none" strike="noStrike" cap="none">
                <a:solidFill>
                  <a:schemeClr val="dk1"/>
                </a:solidFill>
                <a:latin typeface="Quicksand"/>
                <a:ea typeface="Quicksand"/>
                <a:cs typeface="Quicksand"/>
                <a:sym typeface="Quicksand"/>
              </a:defRPr>
            </a:lvl9pPr>
          </a:lstStyle>
          <a:p>
            <a:r>
              <a:rPr lang="en-US" sz="3200" dirty="0"/>
              <a:t>Benefits</a:t>
            </a:r>
          </a:p>
        </p:txBody>
      </p:sp>
      <p:sp>
        <p:nvSpPr>
          <p:cNvPr id="10" name="TextBox 9">
            <a:extLst>
              <a:ext uri="{FF2B5EF4-FFF2-40B4-BE49-F238E27FC236}">
                <a16:creationId xmlns:a16="http://schemas.microsoft.com/office/drawing/2014/main" id="{F498C312-91A1-5340-DB39-EBF19416F8DA}"/>
              </a:ext>
            </a:extLst>
          </p:cNvPr>
          <p:cNvSpPr txBox="1"/>
          <p:nvPr/>
        </p:nvSpPr>
        <p:spPr>
          <a:xfrm>
            <a:off x="512617" y="1182350"/>
            <a:ext cx="7703127" cy="2798651"/>
          </a:xfrm>
          <a:prstGeom prst="rect">
            <a:avLst/>
          </a:prstGeom>
          <a:noFill/>
        </p:spPr>
        <p:txBody>
          <a:bodyPr wrap="square">
            <a:spAutoFit/>
          </a:bodyPr>
          <a:lstStyle/>
          <a:p>
            <a:pPr marL="285750" indent="-285750">
              <a:lnSpc>
                <a:spcPct val="115000"/>
              </a:lnSpc>
              <a:buClr>
                <a:schemeClr val="dk1"/>
              </a:buClr>
              <a:buSzPts val="3000"/>
              <a:buFont typeface="Wingdings" panose="05000000000000000000" pitchFamily="2" charset="2"/>
              <a:buChar char="§"/>
            </a:pPr>
            <a:r>
              <a:rPr lang="en-US" b="1" dirty="0">
                <a:solidFill>
                  <a:schemeClr val="dk1"/>
                </a:solidFill>
                <a:latin typeface="Mulish"/>
                <a:sym typeface="Mulish"/>
              </a:rPr>
              <a:t>Promotes learning, justice and safety:</a:t>
            </a:r>
            <a:r>
              <a:rPr lang="en-US" dirty="0">
                <a:solidFill>
                  <a:schemeClr val="dk1"/>
                </a:solidFill>
                <a:latin typeface="Mulish"/>
                <a:sym typeface="Mulish"/>
              </a:rPr>
              <a:t> Helps organizations move from blame to forward-looking, change-oriented improvement</a:t>
            </a:r>
          </a:p>
          <a:p>
            <a:pPr marL="285750" indent="-285750">
              <a:lnSpc>
                <a:spcPct val="115000"/>
              </a:lnSpc>
              <a:buClr>
                <a:schemeClr val="dk1"/>
              </a:buClr>
              <a:buSzPts val="3000"/>
              <a:buFont typeface="Wingdings" panose="05000000000000000000" pitchFamily="2" charset="2"/>
              <a:buChar char="§"/>
            </a:pPr>
            <a:endParaRPr lang="en-US" dirty="0">
              <a:solidFill>
                <a:schemeClr val="dk1"/>
              </a:solidFill>
              <a:latin typeface="Mulish"/>
              <a:sym typeface="Mulish"/>
            </a:endParaRPr>
          </a:p>
          <a:p>
            <a:pPr marL="285750" indent="-285750">
              <a:lnSpc>
                <a:spcPct val="115000"/>
              </a:lnSpc>
              <a:buClr>
                <a:schemeClr val="dk1"/>
              </a:buClr>
              <a:buSzPts val="3000"/>
              <a:buFont typeface="Wingdings" panose="05000000000000000000" pitchFamily="2" charset="2"/>
              <a:buChar char="§"/>
            </a:pPr>
            <a:r>
              <a:rPr lang="en-US" b="1" dirty="0">
                <a:solidFill>
                  <a:schemeClr val="dk1"/>
                </a:solidFill>
                <a:latin typeface="Mulish"/>
              </a:rPr>
              <a:t>Encourages reporting and openness: </a:t>
            </a:r>
            <a:r>
              <a:rPr lang="en-US" dirty="0">
                <a:solidFill>
                  <a:schemeClr val="dk1"/>
                </a:solidFill>
                <a:latin typeface="Mulish"/>
              </a:rPr>
              <a:t>essential for a reporting culture where people feel safe to share incidents, near misses, and unsafe conditions</a:t>
            </a:r>
          </a:p>
          <a:p>
            <a:pPr marL="285750" indent="-285750">
              <a:lnSpc>
                <a:spcPct val="115000"/>
              </a:lnSpc>
              <a:buClr>
                <a:schemeClr val="dk1"/>
              </a:buClr>
              <a:buSzPts val="3000"/>
              <a:buFont typeface="Wingdings" panose="05000000000000000000" pitchFamily="2" charset="2"/>
              <a:buChar char="§"/>
            </a:pPr>
            <a:endParaRPr lang="en-US" dirty="0">
              <a:solidFill>
                <a:schemeClr val="dk1"/>
              </a:solidFill>
              <a:latin typeface="Mulish"/>
            </a:endParaRPr>
          </a:p>
          <a:p>
            <a:pPr marL="285750" indent="-285750">
              <a:lnSpc>
                <a:spcPct val="115000"/>
              </a:lnSpc>
              <a:buClr>
                <a:schemeClr val="dk1"/>
              </a:buClr>
              <a:buSzPts val="3000"/>
              <a:buFont typeface="Wingdings" panose="05000000000000000000" pitchFamily="2" charset="2"/>
              <a:buChar char="§"/>
            </a:pPr>
            <a:r>
              <a:rPr lang="en-US" b="1" dirty="0">
                <a:solidFill>
                  <a:schemeClr val="dk1"/>
                </a:solidFill>
                <a:latin typeface="Mulish"/>
              </a:rPr>
              <a:t>Balances accountability with learning: </a:t>
            </a:r>
            <a:r>
              <a:rPr lang="en-US" dirty="0">
                <a:solidFill>
                  <a:schemeClr val="dk1"/>
                </a:solidFill>
                <a:latin typeface="Mulish"/>
              </a:rPr>
              <a:t>Recognizes human error as inevitable and avoids punitive responses that obstruct improvement</a:t>
            </a:r>
          </a:p>
          <a:p>
            <a:pPr marL="285750" indent="-285750">
              <a:lnSpc>
                <a:spcPct val="115000"/>
              </a:lnSpc>
              <a:buClr>
                <a:schemeClr val="dk1"/>
              </a:buClr>
              <a:buSzPts val="3000"/>
              <a:buFont typeface="Wingdings" panose="05000000000000000000" pitchFamily="2" charset="2"/>
              <a:buChar char="§"/>
            </a:pPr>
            <a:endParaRPr lang="en-US" dirty="0">
              <a:solidFill>
                <a:schemeClr val="dk1"/>
              </a:solidFill>
              <a:latin typeface="Mulish"/>
            </a:endParaRPr>
          </a:p>
          <a:p>
            <a:pPr marL="285750" indent="-285750">
              <a:lnSpc>
                <a:spcPct val="115000"/>
              </a:lnSpc>
              <a:buClr>
                <a:schemeClr val="dk1"/>
              </a:buClr>
              <a:buSzPts val="3000"/>
              <a:buFont typeface="Wingdings" panose="05000000000000000000" pitchFamily="2" charset="2"/>
              <a:buChar char="§"/>
            </a:pPr>
            <a:r>
              <a:rPr lang="en-US" b="1" dirty="0">
                <a:solidFill>
                  <a:schemeClr val="dk1"/>
                </a:solidFill>
                <a:latin typeface="Mulish"/>
              </a:rPr>
              <a:t>Supports psychological safety: </a:t>
            </a:r>
            <a:r>
              <a:rPr lang="en-US" dirty="0">
                <a:solidFill>
                  <a:schemeClr val="dk1"/>
                </a:solidFill>
                <a:latin typeface="Mulish"/>
              </a:rPr>
              <a:t>Creates environments where staff can speak up without fear, enabling candid communication and reducing harm</a:t>
            </a:r>
            <a:endParaRPr lang="en-US" dirty="0">
              <a:solidFill>
                <a:schemeClr val="dk1"/>
              </a:solidFill>
              <a:latin typeface="Mulish"/>
              <a:sym typeface="Mulish"/>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CD850-B768-1FDE-7478-AF5ED122642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CB6EB4-0E16-84A7-B59A-B74AEE6536C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7</a:t>
            </a:fld>
            <a:endParaRPr lang="en"/>
          </a:p>
        </p:txBody>
      </p:sp>
      <p:pic>
        <p:nvPicPr>
          <p:cNvPr id="4" name="Picture 3">
            <a:extLst>
              <a:ext uri="{FF2B5EF4-FFF2-40B4-BE49-F238E27FC236}">
                <a16:creationId xmlns:a16="http://schemas.microsoft.com/office/drawing/2014/main" id="{3BF68BFA-928E-18CF-B302-CA0E149A8A7B}"/>
              </a:ext>
            </a:extLst>
          </p:cNvPr>
          <p:cNvPicPr>
            <a:picLocks noChangeAspect="1"/>
          </p:cNvPicPr>
          <p:nvPr/>
        </p:nvPicPr>
        <p:blipFill>
          <a:blip r:embed="rId3"/>
          <a:stretch>
            <a:fillRect/>
          </a:stretch>
        </p:blipFill>
        <p:spPr>
          <a:xfrm>
            <a:off x="2939166" y="599838"/>
            <a:ext cx="3046450" cy="3943824"/>
          </a:xfrm>
          <a:prstGeom prst="rect">
            <a:avLst/>
          </a:prstGeom>
        </p:spPr>
      </p:pic>
    </p:spTree>
    <p:extLst>
      <p:ext uri="{BB962C8B-B14F-4D97-AF65-F5344CB8AC3E}">
        <p14:creationId xmlns:p14="http://schemas.microsoft.com/office/powerpoint/2010/main" val="34046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5"/>
        <p:cNvGrpSpPr/>
        <p:nvPr/>
      </p:nvGrpSpPr>
      <p:grpSpPr>
        <a:xfrm>
          <a:off x="0" y="0"/>
          <a:ext cx="0" cy="0"/>
          <a:chOff x="0" y="0"/>
          <a:chExt cx="0" cy="0"/>
        </a:xfrm>
      </p:grpSpPr>
      <p:sp>
        <p:nvSpPr>
          <p:cNvPr id="1206" name="Google Shape;1206;p58"/>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p>
            <a:endParaRPr lang="en-US" sz="1200" dirty="0"/>
          </a:p>
          <a:p>
            <a:r>
              <a:rPr lang="en-US" sz="1200" dirty="0"/>
              <a:t>Christman, &amp; </a:t>
            </a:r>
            <a:r>
              <a:rPr lang="en-US" sz="1200" dirty="0" err="1"/>
              <a:t>Ernstmeyer</a:t>
            </a:r>
            <a:r>
              <a:rPr lang="en-US" sz="1200" dirty="0"/>
              <a:t> . (n.d.). Just culture. </a:t>
            </a:r>
            <a:r>
              <a:rPr lang="en-US" sz="1200" dirty="0" err="1"/>
              <a:t>PressBooks</a:t>
            </a:r>
            <a:r>
              <a:rPr lang="en-US" sz="1200" dirty="0"/>
              <a:t>. https://mlpp.pressbooks.pub/nursingsynthesisandcapstone/chapter/jc-basic-concepts/ </a:t>
            </a:r>
          </a:p>
          <a:p>
            <a:r>
              <a:rPr lang="en-US" sz="1200" dirty="0"/>
              <a:t>Geraghty, T. (2025, September 4). </a:t>
            </a:r>
            <a:r>
              <a:rPr lang="en-US" sz="1200" i="1" dirty="0"/>
              <a:t>Just culture</a:t>
            </a:r>
            <a:r>
              <a:rPr lang="en-US" sz="1200" dirty="0"/>
              <a:t>. Psych Safety. https://psychsafety.com/just-culture/ </a:t>
            </a:r>
          </a:p>
          <a:p>
            <a:r>
              <a:rPr lang="en-US" sz="1200" dirty="0"/>
              <a:t>Jain, A. (2025, July 18). </a:t>
            </a:r>
            <a:r>
              <a:rPr lang="en-US" sz="1200" i="1" dirty="0"/>
              <a:t>From blame to balance: Why “Just culture” matters in tech too</a:t>
            </a:r>
            <a:r>
              <a:rPr lang="en-US" sz="1200" dirty="0"/>
              <a:t>. LinkedIn. https://www.linkedin.com/pulse/from-blame-balance-why-just-culture-matters-tech-too-ashish-jain-zc5nc </a:t>
            </a:r>
          </a:p>
          <a:p>
            <a:r>
              <a:rPr lang="en-US" sz="1200" i="1" dirty="0"/>
              <a:t>Overcoming barriers to a just culture</a:t>
            </a:r>
            <a:r>
              <a:rPr lang="en-US" sz="1200" dirty="0"/>
              <a:t>. Health Quality Alberta Just Culture. (n.d.). https://justculture.hqa.ca/overcoming-barriers-to-a-just-culture/ </a:t>
            </a:r>
          </a:p>
          <a:p>
            <a:r>
              <a:rPr lang="en-US" sz="1200" dirty="0"/>
              <a:t>OpenAI. (2025). ChatGPT (40 </a:t>
            </a:r>
            <a:r>
              <a:rPr lang="en-US" sz="1200" dirty="0" err="1"/>
              <a:t>mimi</a:t>
            </a:r>
            <a:r>
              <a:rPr lang="en-US" sz="1200" dirty="0"/>
              <a:t>). https://chat.openai.com/chat</a:t>
            </a:r>
          </a:p>
          <a:p>
            <a:endParaRPr lang="en-US" sz="1200" dirty="0"/>
          </a:p>
          <a:p>
            <a:endParaRPr lang="en-US" sz="1200" dirty="0"/>
          </a:p>
          <a:p>
            <a:pPr marL="0" lvl="0" indent="0" algn="l" rtl="0">
              <a:lnSpc>
                <a:spcPct val="115000"/>
              </a:lnSpc>
              <a:spcBef>
                <a:spcPts val="300"/>
              </a:spcBef>
              <a:spcAft>
                <a:spcPts val="0"/>
              </a:spcAft>
              <a:buNone/>
            </a:pPr>
            <a:endParaRPr sz="1100" dirty="0">
              <a:solidFill>
                <a:schemeClr val="dk1"/>
              </a:solidFill>
            </a:endParaRPr>
          </a:p>
        </p:txBody>
      </p:sp>
      <p:sp>
        <p:nvSpPr>
          <p:cNvPr id="1207" name="Google Shape;1207;p5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Resources</a:t>
            </a:r>
            <a:endParaRPr/>
          </a:p>
        </p:txBody>
      </p:sp>
      <p:sp>
        <p:nvSpPr>
          <p:cNvPr id="1208" name="Google Shape;1208;p58"/>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257364-F0E1-C239-BAD2-CFE6B81671A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9</a:t>
            </a:fld>
            <a:endParaRPr lang="en"/>
          </a:p>
        </p:txBody>
      </p:sp>
      <p:sp>
        <p:nvSpPr>
          <p:cNvPr id="3" name="Title 2">
            <a:extLst>
              <a:ext uri="{FF2B5EF4-FFF2-40B4-BE49-F238E27FC236}">
                <a16:creationId xmlns:a16="http://schemas.microsoft.com/office/drawing/2014/main" id="{460FAE4A-50D4-0305-19AA-882E0F9A9A58}"/>
              </a:ext>
            </a:extLst>
          </p:cNvPr>
          <p:cNvSpPr>
            <a:spLocks noGrp="1"/>
          </p:cNvSpPr>
          <p:nvPr>
            <p:ph type="title"/>
          </p:nvPr>
        </p:nvSpPr>
        <p:spPr>
          <a:xfrm>
            <a:off x="720000" y="1137752"/>
            <a:ext cx="7704000" cy="1688575"/>
          </a:xfrm>
        </p:spPr>
        <p:txBody>
          <a:bodyPr/>
          <a:lstStyle/>
          <a:p>
            <a:pPr algn="ctr">
              <a:buSzPts val="9600"/>
            </a:pPr>
            <a:r>
              <a:rPr lang="en-US" sz="9600" dirty="0">
                <a:solidFill>
                  <a:schemeClr val="dk2"/>
                </a:solidFill>
              </a:rPr>
              <a:t>Thank you!</a:t>
            </a:r>
          </a:p>
        </p:txBody>
      </p:sp>
    </p:spTree>
    <p:extLst>
      <p:ext uri="{BB962C8B-B14F-4D97-AF65-F5344CB8AC3E}">
        <p14:creationId xmlns:p14="http://schemas.microsoft.com/office/powerpoint/2010/main" val="3908041246"/>
      </p:ext>
    </p:extLst>
  </p:cSld>
  <p:clrMapOvr>
    <a:masterClrMapping/>
  </p:clrMapOvr>
</p:sld>
</file>

<file path=ppt/theme/theme1.xml><?xml version="1.0" encoding="utf-8"?>
<a:theme xmlns:a="http://schemas.openxmlformats.org/drawingml/2006/main"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577</Words>
  <Application>Microsoft Office PowerPoint</Application>
  <PresentationFormat>On-screen Show (16:9)</PresentationFormat>
  <Paragraphs>61</Paragraphs>
  <Slides>9</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Wingdings</vt:lpstr>
      <vt:lpstr>Bebas Neue</vt:lpstr>
      <vt:lpstr>Nunito Light</vt:lpstr>
      <vt:lpstr>Arial</vt:lpstr>
      <vt:lpstr>Mulish</vt:lpstr>
      <vt:lpstr>Quicksand</vt:lpstr>
      <vt:lpstr>Elegant Bachelor Thesis by Slidesgo</vt:lpstr>
      <vt:lpstr>Establishing a Just, </vt:lpstr>
      <vt:lpstr>What is a “Just Culture”?</vt:lpstr>
      <vt:lpstr>Challenges</vt:lpstr>
      <vt:lpstr>what a Just Culture looks like</vt:lpstr>
      <vt:lpstr>How to Start a Just culture</vt:lpstr>
      <vt:lpstr>PowerPoint Presentation</vt:lpstr>
      <vt:lpstr>PowerPoint Presentation</vt:lpstr>
      <vt:lpstr>Resources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Nardos G</dc:creator>
  <cp:lastModifiedBy>Nardos Gebremedhin</cp:lastModifiedBy>
  <cp:revision>2</cp:revision>
  <dcterms:modified xsi:type="dcterms:W3CDTF">2025-12-08T04:56:06Z</dcterms:modified>
</cp:coreProperties>
</file>