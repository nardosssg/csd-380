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Lst>
  <p:notesMasterIdLst>
    <p:notesMasterId r:id="rId10"/>
  </p:notesMasterIdLst>
  <p:sldIdLst>
    <p:sldId id="256" r:id="rId2"/>
    <p:sldId id="261" r:id="rId3"/>
    <p:sldId id="263" r:id="rId4"/>
    <p:sldId id="262" r:id="rId5"/>
    <p:sldId id="264" r:id="rId6"/>
    <p:sldId id="260" r:id="rId7"/>
    <p:sldId id="316" r:id="rId8"/>
    <p:sldId id="265" r:id="rId9"/>
  </p:sldIdLst>
  <p:sldSz cx="9144000" cy="5143500" type="screen16x9"/>
  <p:notesSz cx="6858000" cy="9144000"/>
  <p:embeddedFontLst>
    <p:embeddedFont>
      <p:font typeface="Crimson Text" panose="020B0604020202020204" charset="0"/>
      <p:regular r:id="rId11"/>
      <p:bold r:id="rId12"/>
      <p:italic r:id="rId13"/>
      <p:boldItalic r:id="rId14"/>
    </p:embeddedFont>
    <p:embeddedFont>
      <p:font typeface="Merriweather Light" panose="00000400000000000000" pitchFamily="2" charset="0"/>
      <p:regular r:id="rId15"/>
      <p:bold r:id="rId16"/>
      <p:italic r:id="rId17"/>
      <p:boldItalic r:id="rId18"/>
    </p:embeddedFont>
    <p:embeddedFont>
      <p:font typeface="Montserrat" panose="00000500000000000000" pitchFamily="2" charset="0"/>
      <p:regular r:id="rId19"/>
      <p:bold r:id="rId20"/>
      <p:italic r:id="rId21"/>
      <p:boldItalic r:id="rId22"/>
    </p:embeddedFont>
    <p:embeddedFont>
      <p:font typeface="Vidaloka" panose="020B0604020202020204" charset="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3D59A5-83D3-486F-BA2A-8480EF6F3AEA}">
  <a:tblStyle styleId="{0B3D59A5-83D3-486F-BA2A-8480EF6F3AE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5" d="100"/>
          <a:sy n="155" d="100"/>
        </p:scale>
        <p:origin x="36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105aad17dc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105aad17dc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cc7554a049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cc7554a049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gcc7554a049_0_8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4" name="Google Shape;1534;gcc7554a049_0_8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20" name="Google Shape;120;p16"/>
          <p:cNvSpPr txBox="1">
            <a:spLocks noGrp="1"/>
          </p:cNvSpPr>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SECTION_TITLE_AND_DESCRIPTION_1">
    <p:spTree>
      <p:nvGrpSpPr>
        <p:cNvPr id="1" name="Shape 132"/>
        <p:cNvGrpSpPr/>
        <p:nvPr/>
      </p:nvGrpSpPr>
      <p:grpSpPr>
        <a:xfrm>
          <a:off x="0" y="0"/>
          <a:ext cx="0" cy="0"/>
          <a:chOff x="0" y="0"/>
          <a:chExt cx="0" cy="0"/>
        </a:xfrm>
      </p:grpSpPr>
      <p:sp>
        <p:nvSpPr>
          <p:cNvPr id="133" name="Google Shape;133;p18"/>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a:endParaRPr/>
          </a:p>
        </p:txBody>
      </p:sp>
      <p:sp>
        <p:nvSpPr>
          <p:cNvPr id="134" name="Google Shape;134;p18"/>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135" name="Google Shape;135;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7" name="Google Shape;137;p18"/>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8"/>
        <p:cNvGrpSpPr/>
        <p:nvPr/>
      </p:nvGrpSpPr>
      <p:grpSpPr>
        <a:xfrm>
          <a:off x="0" y="0"/>
          <a:ext cx="0" cy="0"/>
          <a:chOff x="0" y="0"/>
          <a:chExt cx="0" cy="0"/>
        </a:xfrm>
      </p:grpSpPr>
      <p:sp>
        <p:nvSpPr>
          <p:cNvPr id="139" name="Google Shape;139;p19"/>
          <p:cNvSpPr txBox="1">
            <a:spLocks noGrp="1"/>
          </p:cNvSpPr>
          <p:nvPr>
            <p:ph type="title"/>
          </p:nvPr>
        </p:nvSpPr>
        <p:spPr>
          <a:xfrm>
            <a:off x="845550" y="1482825"/>
            <a:ext cx="7452900" cy="129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7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
        <p:nvSpPr>
          <p:cNvPr id="140" name="Google Shape;140;p19"/>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141" name="Google Shape;141;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143"/>
        <p:cNvGrpSpPr/>
        <p:nvPr/>
      </p:nvGrpSpPr>
      <p:grpSpPr>
        <a:xfrm>
          <a:off x="0" y="0"/>
          <a:ext cx="0" cy="0"/>
          <a:chOff x="0" y="0"/>
          <a:chExt cx="0" cy="0"/>
        </a:xfrm>
      </p:grpSpPr>
      <p:sp>
        <p:nvSpPr>
          <p:cNvPr id="144" name="Google Shape;144;p20"/>
          <p:cNvSpPr txBox="1">
            <a:spLocks noGrp="1"/>
          </p:cNvSpPr>
          <p:nvPr>
            <p:ph type="title"/>
          </p:nvPr>
        </p:nvSpPr>
        <p:spPr>
          <a:xfrm>
            <a:off x="3742850" y="1549875"/>
            <a:ext cx="4545000" cy="1291200"/>
          </a:xfrm>
          <a:prstGeom prst="rect">
            <a:avLst/>
          </a:prstGeom>
        </p:spPr>
        <p:txBody>
          <a:bodyPr spcFirstLastPara="1" wrap="square" lIns="91425" tIns="91425" rIns="91425" bIns="91425" anchor="t" anchorCtr="0">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a:endParaRPr/>
          </a:p>
        </p:txBody>
      </p:sp>
      <p:sp>
        <p:nvSpPr>
          <p:cNvPr id="145" name="Google Shape;145;p20"/>
          <p:cNvSpPr txBox="1">
            <a:spLocks noGrp="1"/>
          </p:cNvSpPr>
          <p:nvPr>
            <p:ph type="subTitle" idx="1"/>
          </p:nvPr>
        </p:nvSpPr>
        <p:spPr>
          <a:xfrm>
            <a:off x="3742850" y="3039213"/>
            <a:ext cx="45450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cxnSp>
        <p:nvCxnSpPr>
          <p:cNvPr id="146" name="Google Shape;146;p2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7" name="Google Shape;147;p2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8" name="Google Shape;148;p20"/>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9" name="Google Shape;149;p2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0" name="Google Shape;150;p20"/>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1" name="Google Shape;151;p20"/>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Shape 411"/>
        <p:cNvGrpSpPr/>
        <p:nvPr/>
      </p:nvGrpSpPr>
      <p:grpSpPr>
        <a:xfrm>
          <a:off x="0" y="0"/>
          <a:ext cx="0" cy="0"/>
          <a:chOff x="0" y="0"/>
          <a:chExt cx="0" cy="0"/>
        </a:xfrm>
      </p:grpSpPr>
      <p:sp>
        <p:nvSpPr>
          <p:cNvPr id="412" name="Google Shape;412;p46"/>
          <p:cNvSpPr txBox="1">
            <a:spLocks noGrp="1"/>
          </p:cNvSpPr>
          <p:nvPr>
            <p:ph type="subTitle" idx="1"/>
          </p:nvPr>
        </p:nvSpPr>
        <p:spPr>
          <a:xfrm>
            <a:off x="713225" y="1453525"/>
            <a:ext cx="74112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413" name="Google Shape;413;p46"/>
          <p:cNvSpPr txBox="1">
            <a:spLocks noGrp="1"/>
          </p:cNvSpPr>
          <p:nvPr>
            <p:ph type="title"/>
          </p:nvPr>
        </p:nvSpPr>
        <p:spPr>
          <a:xfrm>
            <a:off x="713225" y="445025"/>
            <a:ext cx="4502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14" name="Google Shape;414;p4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5" name="Google Shape;415;p4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6" name="Google Shape;416;p46"/>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7" name="Google Shape;457;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1" name="Google Shape;461;p5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5" name="Google Shape;465;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6" name="Google Shape;466;p5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9" name="Google Shape;469;p5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0" name="Google Shape;470;p5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1" name="Google Shape;471;p5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2" name="Google Shape;472;p5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3" name="Google Shape;473;p5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8" r:id="rId3"/>
    <p:sldLayoutId id="2147483661" r:id="rId4"/>
    <p:sldLayoutId id="2147483662" r:id="rId5"/>
    <p:sldLayoutId id="2147483663" r:id="rId6"/>
    <p:sldLayoutId id="2147483664" r:id="rId7"/>
    <p:sldLayoutId id="2147483665" r:id="rId8"/>
    <p:sldLayoutId id="2147483666" r:id="rId9"/>
    <p:sldLayoutId id="2147483692" r:id="rId10"/>
    <p:sldLayoutId id="2147483697" r:id="rId11"/>
    <p:sldLayoutId id="2147483698" r:id="rId12"/>
    <p:sldLayoutId id="2147483699" r:id="rId13"/>
    <p:sldLayoutId id="2147483700"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chat.openai.com/chat" TargetMode="External"/><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pPr lvl="0"/>
            <a:r>
              <a:rPr lang="en-US" dirty="0"/>
              <a:t>Pager Rotation Duties</a:t>
            </a:r>
            <a:endParaRPr dirty="0"/>
          </a:p>
        </p:txBody>
      </p:sp>
      <p:sp>
        <p:nvSpPr>
          <p:cNvPr id="489" name="Google Shape;489;p60"/>
          <p:cNvSpPr txBox="1">
            <a:spLocks noGrp="1"/>
          </p:cNvSpPr>
          <p:nvPr>
            <p:ph type="subTitle" idx="1"/>
          </p:nvPr>
        </p:nvSpPr>
        <p:spPr>
          <a:xfrm>
            <a:off x="1039950" y="3377100"/>
            <a:ext cx="70641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solidFill>
                  <a:schemeClr val="dk1"/>
                </a:solidFill>
              </a:rPr>
              <a:t>Nardos Gebremedhin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anim calcmode="lin" valueType="num">
                                      <p:cBhvr additive="base">
                                        <p:cTn id="7" dur="1000"/>
                                        <p:tgtEl>
                                          <p:spTgt spid="488"/>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9"/>
                                        </p:tgtEl>
                                        <p:attrNameLst>
                                          <p:attrName>style.visibility</p:attrName>
                                        </p:attrNameLst>
                                      </p:cBhvr>
                                      <p:to>
                                        <p:strVal val="visible"/>
                                      </p:to>
                                    </p:set>
                                    <p:anim calcmode="lin" valueType="num">
                                      <p:cBhvr additive="base">
                                        <p:cTn id="10" dur="1000"/>
                                        <p:tgtEl>
                                          <p:spTgt spid="4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title"/>
          </p:nvPr>
        </p:nvSpPr>
        <p:spPr>
          <a:xfrm>
            <a:off x="2337170" y="541441"/>
            <a:ext cx="4323000" cy="497700"/>
          </a:xfrm>
          <a:prstGeom prst="rect">
            <a:avLst/>
          </a:prstGeom>
        </p:spPr>
        <p:txBody>
          <a:bodyPr spcFirstLastPara="1" wrap="square" lIns="91425" tIns="91425" rIns="91425" bIns="91425" anchor="t" anchorCtr="0">
            <a:noAutofit/>
          </a:bodyPr>
          <a:lstStyle/>
          <a:p>
            <a:pPr lvl="0" algn="ctr"/>
            <a:r>
              <a:rPr lang="en-US" dirty="0"/>
              <a:t>What is Pager Rotation?</a:t>
            </a:r>
            <a:endParaRPr dirty="0"/>
          </a:p>
        </p:txBody>
      </p:sp>
      <p:sp>
        <p:nvSpPr>
          <p:cNvPr id="547" name="Google Shape;547;p65"/>
          <p:cNvSpPr txBox="1">
            <a:spLocks noGrp="1"/>
          </p:cNvSpPr>
          <p:nvPr>
            <p:ph type="subTitle" idx="1"/>
          </p:nvPr>
        </p:nvSpPr>
        <p:spPr>
          <a:xfrm>
            <a:off x="699899" y="1675902"/>
            <a:ext cx="7344350" cy="1641887"/>
          </a:xfrm>
          <a:prstGeom prst="rect">
            <a:avLst/>
          </a:prstGeom>
        </p:spPr>
        <p:txBody>
          <a:bodyPr spcFirstLastPara="1" wrap="square" lIns="91425" tIns="91425" rIns="91425" bIns="91425" anchor="t" anchorCtr="0">
            <a:noAutofit/>
          </a:bodyPr>
          <a:lstStyle/>
          <a:p>
            <a:pPr marL="0" lvl="0" indent="0">
              <a:spcAft>
                <a:spcPts val="1200"/>
              </a:spcAft>
            </a:pPr>
            <a:r>
              <a:rPr lang="en-US" dirty="0"/>
              <a:t>Pager rotation (also called on-call rotation) is a scheduling practice in DevOps and SRE where team members take turns being responsible for responding to system alerts, outages, and incidents.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6"/>
                                        </p:tgtEl>
                                        <p:attrNameLst>
                                          <p:attrName>style.visibility</p:attrName>
                                        </p:attrNameLst>
                                      </p:cBhvr>
                                      <p:to>
                                        <p:strVal val="visible"/>
                                      </p:to>
                                    </p:set>
                                    <p:anim calcmode="lin" valueType="num">
                                      <p:cBhvr additive="base">
                                        <p:cTn id="7" dur="1000"/>
                                        <p:tgtEl>
                                          <p:spTgt spid="546"/>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547"/>
                                        </p:tgtEl>
                                        <p:attrNameLst>
                                          <p:attrName>style.visibility</p:attrName>
                                        </p:attrNameLst>
                                      </p:cBhvr>
                                      <p:to>
                                        <p:strVal val="visible"/>
                                      </p:to>
                                    </p:set>
                                    <p:anim calcmode="lin" valueType="num">
                                      <p:cBhvr additive="base">
                                        <p:cTn id="10" dur="1000"/>
                                        <p:tgtEl>
                                          <p:spTgt spid="54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67"/>
          <p:cNvSpPr txBox="1">
            <a:spLocks noGrp="1"/>
          </p:cNvSpPr>
          <p:nvPr>
            <p:ph type="subTitle" idx="1"/>
          </p:nvPr>
        </p:nvSpPr>
        <p:spPr>
          <a:xfrm>
            <a:off x="463379" y="1521362"/>
            <a:ext cx="8081319" cy="2927071"/>
          </a:xfrm>
          <a:prstGeom prst="rect">
            <a:avLst/>
          </a:prstGeom>
        </p:spPr>
        <p:txBody>
          <a:bodyPr spcFirstLastPara="1" wrap="square" lIns="91425" tIns="91425" rIns="91425" bIns="91425" anchor="t" anchorCtr="0">
            <a:noAutofit/>
          </a:bodyPr>
          <a:lstStyle/>
          <a:p>
            <a:pPr marL="285750" indent="-285750">
              <a:buClr>
                <a:schemeClr val="dk1"/>
              </a:buClr>
              <a:buSzPts val="1100"/>
            </a:pPr>
            <a:r>
              <a:rPr lang="en-US" sz="1800" dirty="0"/>
              <a:t>It minimizes system downtime and customer impact, which is especially important in always-on or high-availability environments.</a:t>
            </a:r>
          </a:p>
          <a:p>
            <a:pPr marL="285750" indent="-285750">
              <a:buClr>
                <a:schemeClr val="dk1"/>
              </a:buClr>
              <a:buSzPts val="1100"/>
            </a:pPr>
            <a:endParaRPr lang="en-US" sz="1800" dirty="0"/>
          </a:p>
          <a:p>
            <a:pPr marL="285750" indent="-285750">
              <a:buClr>
                <a:schemeClr val="dk1"/>
              </a:buClr>
              <a:buSzPts val="1100"/>
            </a:pPr>
            <a:r>
              <a:rPr lang="en-US" sz="1800" dirty="0"/>
              <a:t>It helps build team ownership, accountability, and fair distribution of work,  reducing burnout and improving long-term sustainability.</a:t>
            </a:r>
          </a:p>
          <a:p>
            <a:pPr marL="285750" indent="-285750">
              <a:buClr>
                <a:schemeClr val="dk1"/>
              </a:buClr>
              <a:buSzPts val="1100"/>
            </a:pPr>
            <a:endParaRPr lang="en-US" sz="1800" dirty="0"/>
          </a:p>
          <a:p>
            <a:pPr marL="285750" indent="-285750">
              <a:buClr>
                <a:schemeClr val="dk1"/>
              </a:buClr>
              <a:buSzPts val="1100"/>
            </a:pPr>
            <a:r>
              <a:rPr lang="en-US" sz="1800" dirty="0"/>
              <a:t>It supports business continuity and customer trust, particularly for services with global or high-demand usage.</a:t>
            </a:r>
            <a:endParaRPr sz="1800" dirty="0"/>
          </a:p>
        </p:txBody>
      </p:sp>
      <p:sp>
        <p:nvSpPr>
          <p:cNvPr id="560" name="Google Shape;560;p67"/>
          <p:cNvSpPr txBox="1">
            <a:spLocks noGrp="1"/>
          </p:cNvSpPr>
          <p:nvPr>
            <p:ph type="title"/>
          </p:nvPr>
        </p:nvSpPr>
        <p:spPr>
          <a:xfrm>
            <a:off x="1732050" y="445024"/>
            <a:ext cx="5811750" cy="963645"/>
          </a:xfrm>
          <a:prstGeom prst="rect">
            <a:avLst/>
          </a:prstGeom>
        </p:spPr>
        <p:txBody>
          <a:bodyPr spcFirstLastPara="1" wrap="square" lIns="91425" tIns="91425" rIns="91425" bIns="91425" anchor="t" anchorCtr="0">
            <a:normAutofit fontScale="90000"/>
          </a:bodyPr>
          <a:lstStyle/>
          <a:p>
            <a:pPr lvl="0"/>
            <a:r>
              <a:rPr lang="en-US" dirty="0"/>
              <a:t>Why Pager Rotation Matters in DevOps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559"/>
                                        </p:tgtEl>
                                        <p:attrNameLst>
                                          <p:attrName>style.visibility</p:attrName>
                                        </p:attrNameLst>
                                      </p:cBhvr>
                                      <p:to>
                                        <p:strVal val="visible"/>
                                      </p:to>
                                    </p:set>
                                    <p:anim calcmode="lin" valueType="num">
                                      <p:cBhvr additive="base">
                                        <p:cTn id="7" dur="1000"/>
                                        <p:tgtEl>
                                          <p:spTgt spid="559"/>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560"/>
                                        </p:tgtEl>
                                        <p:attrNameLst>
                                          <p:attrName>style.visibility</p:attrName>
                                        </p:attrNameLst>
                                      </p:cBhvr>
                                      <p:to>
                                        <p:strVal val="visible"/>
                                      </p:to>
                                    </p:set>
                                    <p:anim calcmode="lin" valueType="num">
                                      <p:cBhvr additive="base">
                                        <p:cTn id="10" dur="1000"/>
                                        <p:tgtEl>
                                          <p:spTgt spid="5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6"/>
          <p:cNvSpPr txBox="1">
            <a:spLocks noGrp="1"/>
          </p:cNvSpPr>
          <p:nvPr>
            <p:ph type="subTitle" idx="1"/>
          </p:nvPr>
        </p:nvSpPr>
        <p:spPr>
          <a:xfrm>
            <a:off x="877413" y="1109298"/>
            <a:ext cx="7710533" cy="3525302"/>
          </a:xfrm>
          <a:prstGeom prst="rect">
            <a:avLst/>
          </a:prstGeom>
        </p:spPr>
        <p:txBody>
          <a:bodyPr spcFirstLastPara="1" wrap="square" lIns="91425" tIns="91425" rIns="91425" bIns="91425" anchor="t" anchorCtr="0">
            <a:noAutofit/>
          </a:bodyPr>
          <a:lstStyle/>
          <a:p>
            <a:pPr marL="285750" indent="-285750"/>
            <a:r>
              <a:rPr lang="en-US" sz="1600" dirty="0"/>
              <a:t>Define clear roles &amp; responsibilities like response times and communication</a:t>
            </a:r>
          </a:p>
          <a:p>
            <a:pPr marL="285750" indent="-285750"/>
            <a:endParaRPr lang="en-US" sz="1600" dirty="0"/>
          </a:p>
          <a:p>
            <a:pPr marL="285750" indent="-285750"/>
            <a:r>
              <a:rPr lang="en-US" sz="1600" dirty="0"/>
              <a:t>Implement a fair, balanced rotation schedule</a:t>
            </a:r>
          </a:p>
          <a:p>
            <a:pPr marL="0" indent="0">
              <a:buNone/>
            </a:pPr>
            <a:endParaRPr lang="en-US" sz="1600" dirty="0"/>
          </a:p>
          <a:p>
            <a:pPr marL="285750" indent="-285750"/>
            <a:r>
              <a:rPr lang="en-US" sz="1600" dirty="0"/>
              <a:t>Provide training and maintain a solid knowledge base / runbook</a:t>
            </a:r>
          </a:p>
          <a:p>
            <a:pPr marL="0" indent="0">
              <a:buNone/>
            </a:pPr>
            <a:endParaRPr lang="en-US" sz="1600" dirty="0"/>
          </a:p>
          <a:p>
            <a:pPr marL="285750" indent="-285750"/>
            <a:r>
              <a:rPr lang="en-US" sz="1600" dirty="0"/>
              <a:t>Set clear escalation paths for complex incidents</a:t>
            </a:r>
          </a:p>
          <a:p>
            <a:pPr marL="0" indent="0">
              <a:buNone/>
            </a:pPr>
            <a:endParaRPr lang="en-US" sz="1600" dirty="0"/>
          </a:p>
          <a:p>
            <a:pPr marL="285750" indent="-285750"/>
            <a:r>
              <a:rPr lang="en-US" sz="1600" dirty="0"/>
              <a:t>Protect engineer work–life balance</a:t>
            </a:r>
          </a:p>
          <a:p>
            <a:pPr marL="0" indent="0">
              <a:buNone/>
            </a:pPr>
            <a:endParaRPr lang="en-US" sz="1600" dirty="0"/>
          </a:p>
          <a:p>
            <a:pPr marL="285750" indent="-285750"/>
            <a:r>
              <a:rPr lang="en-US" sz="1600" dirty="0"/>
              <a:t>Continuously review &amp; improve the rotation process (feedback, retrospectives)</a:t>
            </a:r>
            <a:endParaRPr sz="1600" dirty="0"/>
          </a:p>
        </p:txBody>
      </p:sp>
      <p:sp>
        <p:nvSpPr>
          <p:cNvPr id="553" name="Google Shape;553;p66"/>
          <p:cNvSpPr txBox="1">
            <a:spLocks noGrp="1"/>
          </p:cNvSpPr>
          <p:nvPr>
            <p:ph type="title"/>
          </p:nvPr>
        </p:nvSpPr>
        <p:spPr>
          <a:xfrm>
            <a:off x="1541127" y="508900"/>
            <a:ext cx="5679900" cy="572700"/>
          </a:xfrm>
          <a:prstGeom prst="rect">
            <a:avLst/>
          </a:prstGeom>
        </p:spPr>
        <p:txBody>
          <a:bodyPr spcFirstLastPara="1" wrap="square" lIns="91425" tIns="91425" rIns="91425" bIns="91425" anchor="t" anchorCtr="0">
            <a:noAutofit/>
          </a:bodyPr>
          <a:lstStyle/>
          <a:p>
            <a:pPr lvl="0" algn="ctr"/>
            <a:r>
              <a:rPr lang="en-US" dirty="0"/>
              <a:t>Best Practices for Pager Rotation</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845550" y="358360"/>
            <a:ext cx="7112201" cy="1019767"/>
          </a:xfrm>
          <a:prstGeom prst="rect">
            <a:avLst/>
          </a:prstGeom>
        </p:spPr>
        <p:txBody>
          <a:bodyPr spcFirstLastPara="1" wrap="square" lIns="91425" tIns="91425" rIns="91425" bIns="91425" anchor="t" anchorCtr="0">
            <a:noAutofit/>
          </a:bodyPr>
          <a:lstStyle/>
          <a:p>
            <a:pPr lvl="0"/>
            <a:r>
              <a:rPr lang="en-US" sz="2800" dirty="0"/>
              <a:t>Large Organizations Structure On-Call Rotations</a:t>
            </a:r>
            <a:endParaRPr sz="2800" dirty="0"/>
          </a:p>
        </p:txBody>
      </p:sp>
      <p:sp>
        <p:nvSpPr>
          <p:cNvPr id="566" name="Google Shape;566;p68"/>
          <p:cNvSpPr txBox="1">
            <a:spLocks noGrp="1"/>
          </p:cNvSpPr>
          <p:nvPr>
            <p:ph type="subTitle" idx="1"/>
          </p:nvPr>
        </p:nvSpPr>
        <p:spPr>
          <a:xfrm>
            <a:off x="877900" y="1378128"/>
            <a:ext cx="7740937" cy="3218586"/>
          </a:xfrm>
          <a:prstGeom prst="rect">
            <a:avLst/>
          </a:prstGeom>
        </p:spPr>
        <p:txBody>
          <a:bodyPr spcFirstLastPara="1" wrap="square" lIns="91425" tIns="91425" rIns="91425" bIns="91425" anchor="t" anchorCtr="0">
            <a:normAutofit/>
          </a:bodyPr>
          <a:lstStyle/>
          <a:p>
            <a:pPr marL="285750" lvl="0" indent="-285750" algn="l">
              <a:buFont typeface="Courier New" panose="02070309020205020404" pitchFamily="49" charset="0"/>
              <a:buChar char="o"/>
            </a:pPr>
            <a:r>
              <a:rPr lang="en-US" sz="1800" b="1" dirty="0"/>
              <a:t>Balance on-call duty vs. engineering/project work</a:t>
            </a:r>
          </a:p>
          <a:p>
            <a:pPr marL="742950" lvl="1" indent="-285750" algn="l">
              <a:buFont typeface="Courier New" panose="02070309020205020404" pitchFamily="49" charset="0"/>
              <a:buChar char="o"/>
            </a:pPr>
            <a:r>
              <a:rPr lang="en-US" sz="1500" dirty="0"/>
              <a:t>At Google, SREs are expected to spend at most 25% of their time on on-call/operational work, the rest is used for engineering and project work.</a:t>
            </a:r>
          </a:p>
          <a:p>
            <a:pPr marL="285750" lvl="0" indent="-285750" algn="l">
              <a:buFont typeface="Courier New" panose="02070309020205020404" pitchFamily="49" charset="0"/>
              <a:buChar char="o"/>
            </a:pPr>
            <a:r>
              <a:rPr lang="en-US" sz="1800" b="1" dirty="0"/>
              <a:t>Team size &amp; rotation design to avoid burnout</a:t>
            </a:r>
          </a:p>
          <a:p>
            <a:pPr marL="742950" lvl="1" indent="-285750" algn="l">
              <a:buFont typeface="Courier New" panose="02070309020205020404" pitchFamily="49" charset="0"/>
              <a:buChar char="o"/>
            </a:pPr>
            <a:r>
              <a:rPr lang="en-US" sz="1600" dirty="0"/>
              <a:t>Google recommends a minimum of 8 engineers in the on-call pool, so each person isn’t on call too often.</a:t>
            </a:r>
          </a:p>
          <a:p>
            <a:pPr marL="285750" lvl="0" indent="-285750" algn="l">
              <a:buFont typeface="Courier New" panose="02070309020205020404" pitchFamily="49" charset="0"/>
              <a:buChar char="o"/>
            </a:pPr>
            <a:r>
              <a:rPr lang="en-US" sz="1800" b="1" dirty="0"/>
              <a:t>Clear procedures, playbooks, escalation and handoffs</a:t>
            </a:r>
          </a:p>
          <a:p>
            <a:pPr marL="742950" lvl="1" indent="-285750" algn="l">
              <a:buFont typeface="Courier New" panose="02070309020205020404" pitchFamily="49" charset="0"/>
              <a:buChar char="o"/>
            </a:pPr>
            <a:r>
              <a:rPr lang="en-US" sz="1500" dirty="0"/>
              <a:t>On-call engineers follow documented procedures: acknowledge alerts quickly, triage, escalate if needed, hand off at shift end, write postmortems when required. This ensures consistency, quality, and fairness.</a:t>
            </a:r>
            <a:endParaRPr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64"/>
          <p:cNvSpPr txBox="1">
            <a:spLocks noGrp="1"/>
          </p:cNvSpPr>
          <p:nvPr>
            <p:ph type="title"/>
          </p:nvPr>
        </p:nvSpPr>
        <p:spPr>
          <a:xfrm>
            <a:off x="506628" y="398685"/>
            <a:ext cx="8019535" cy="1133553"/>
          </a:xfrm>
          <a:prstGeom prst="rect">
            <a:avLst/>
          </a:prstGeom>
        </p:spPr>
        <p:txBody>
          <a:bodyPr spcFirstLastPara="1" wrap="square" lIns="91425" tIns="91425" rIns="91425" bIns="91425" anchor="t" anchorCtr="0">
            <a:normAutofit/>
          </a:bodyPr>
          <a:lstStyle/>
          <a:p>
            <a:pPr lvl="0"/>
            <a:r>
              <a:rPr lang="en-US" sz="2800" dirty="0"/>
              <a:t>Chapter 16 – Dev Shares Pager Rotation Duties with Ops</a:t>
            </a:r>
            <a:endParaRPr sz="2800" dirty="0"/>
          </a:p>
        </p:txBody>
      </p:sp>
      <p:sp>
        <p:nvSpPr>
          <p:cNvPr id="541" name="Google Shape;541;p64"/>
          <p:cNvSpPr txBox="1">
            <a:spLocks noGrp="1"/>
          </p:cNvSpPr>
          <p:nvPr>
            <p:ph type="subTitle" idx="1"/>
          </p:nvPr>
        </p:nvSpPr>
        <p:spPr>
          <a:xfrm>
            <a:off x="704335" y="1661962"/>
            <a:ext cx="7086600" cy="2576406"/>
          </a:xfrm>
          <a:prstGeom prst="rect">
            <a:avLst/>
          </a:prstGeom>
        </p:spPr>
        <p:txBody>
          <a:bodyPr spcFirstLastPara="1" wrap="square" lIns="91425" tIns="91425" rIns="91425" bIns="91425" anchor="t" anchorCtr="0">
            <a:normAutofit/>
          </a:bodyPr>
          <a:lstStyle/>
          <a:p>
            <a:pPr marL="0" lvl="0" indent="0" algn="l">
              <a:spcAft>
                <a:spcPts val="1200"/>
              </a:spcAft>
            </a:pPr>
            <a:r>
              <a:rPr lang="en-US" sz="1600" dirty="0"/>
              <a:t>Chapter 16 supports the same best practices found in the DevOps research. It explains that when developers share on-call duties with Operations, teams gain better visibility into real production issues, fix defects faster, and build more reliable systems. This aligns with industry guidance from sources like Google SRE and PagerDuty, which emphasize shared responsibility, ownership, and sustainable on-call rotation. Overall, the chapter reinforces that reliability improves when everyone who builds the system also helps run it.</a:t>
            </a:r>
            <a:endParaRPr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5"/>
        <p:cNvGrpSpPr/>
        <p:nvPr/>
      </p:nvGrpSpPr>
      <p:grpSpPr>
        <a:xfrm>
          <a:off x="0" y="0"/>
          <a:ext cx="0" cy="0"/>
          <a:chOff x="0" y="0"/>
          <a:chExt cx="0" cy="0"/>
        </a:xfrm>
      </p:grpSpPr>
      <p:sp>
        <p:nvSpPr>
          <p:cNvPr id="1536" name="Google Shape;1536;p120"/>
          <p:cNvSpPr txBox="1">
            <a:spLocks noGrp="1"/>
          </p:cNvSpPr>
          <p:nvPr>
            <p:ph type="subTitle" idx="1"/>
          </p:nvPr>
        </p:nvSpPr>
        <p:spPr>
          <a:xfrm>
            <a:off x="713225" y="1453525"/>
            <a:ext cx="7411200" cy="2889000"/>
          </a:xfrm>
          <a:prstGeom prst="rect">
            <a:avLst/>
          </a:prstGeom>
        </p:spPr>
        <p:txBody>
          <a:bodyPr spcFirstLastPara="1" wrap="square" lIns="91425" tIns="91425" rIns="91425" bIns="91425" anchor="ctr" anchorCtr="0">
            <a:normAutofit fontScale="92500" lnSpcReduction="20000"/>
          </a:bodyPr>
          <a:lstStyle/>
          <a:p>
            <a:pPr marL="139700" indent="0" algn="l">
              <a:buNone/>
            </a:pPr>
            <a:r>
              <a:rPr lang="en-US" dirty="0"/>
              <a:t>Kim, G., Humble, J., Debois, P., Willis, J., Forsgren, N., &amp; </a:t>
            </a:r>
            <a:r>
              <a:rPr lang="en-US" dirty="0" err="1"/>
              <a:t>Allspaw</a:t>
            </a:r>
            <a:r>
              <a:rPr lang="en-US" dirty="0"/>
              <a:t>, J. (2016). </a:t>
            </a:r>
            <a:r>
              <a:rPr lang="en-US" i="1" dirty="0"/>
              <a:t>The </a:t>
            </a:r>
            <a:r>
              <a:rPr lang="en-US" i="1" dirty="0" err="1"/>
              <a:t>devops</a:t>
            </a:r>
            <a:r>
              <a:rPr lang="en-US" i="1" dirty="0"/>
              <a:t> handbook: How to create world-class agility, reliability, &amp; Security in Technology Organizations</a:t>
            </a:r>
            <a:r>
              <a:rPr lang="en-US" dirty="0"/>
              <a:t>. IT Revolution Press. </a:t>
            </a:r>
          </a:p>
          <a:p>
            <a:pPr marL="139700" indent="0" algn="l">
              <a:buNone/>
            </a:pPr>
            <a:endParaRPr lang="en-US" dirty="0"/>
          </a:p>
          <a:p>
            <a:pPr marL="139700" indent="0" algn="l">
              <a:buNone/>
            </a:pPr>
            <a:r>
              <a:rPr lang="en-US" dirty="0" err="1"/>
              <a:t>Nreuck</a:t>
            </a:r>
            <a:r>
              <a:rPr lang="en-US" dirty="0"/>
              <a:t>. (2023, September 30). </a:t>
            </a:r>
            <a:r>
              <a:rPr lang="en-US" i="1" dirty="0"/>
              <a:t>Implementing an on-call rotation</a:t>
            </a:r>
            <a:r>
              <a:rPr lang="en-US" dirty="0"/>
              <a:t>. AIOps SRE. https://aiopssre.com/leadership-and-culture/implementing-an-on-call-rotation/ </a:t>
            </a:r>
          </a:p>
          <a:p>
            <a:pPr marL="139700" indent="0" algn="l">
              <a:buNone/>
            </a:pPr>
            <a:endParaRPr lang="en-US" dirty="0"/>
          </a:p>
          <a:p>
            <a:pPr marL="139700" indent="0" algn="l">
              <a:buNone/>
            </a:pPr>
            <a:endParaRPr lang="en-US" i="1" dirty="0"/>
          </a:p>
          <a:p>
            <a:pPr marL="139700" indent="0" algn="l">
              <a:buNone/>
            </a:pPr>
            <a:r>
              <a:rPr lang="en-US" i="1" dirty="0"/>
              <a:t>On-call rotations and schedules</a:t>
            </a:r>
            <a:r>
              <a:rPr lang="en-US" dirty="0"/>
              <a:t>. PagerDuty. (2025, September 4). https://www.pagerduty.com/resources/incident-management-response/learn/call-rotations-schedules/#heading-0 </a:t>
            </a:r>
          </a:p>
          <a:p>
            <a:pPr marL="139700" indent="0" algn="l">
              <a:buNone/>
            </a:pPr>
            <a:endParaRPr lang="en-US" dirty="0"/>
          </a:p>
          <a:p>
            <a:pPr marL="139700" indent="0" algn="l">
              <a:buNone/>
            </a:pPr>
            <a:r>
              <a:rPr lang="en-US" dirty="0"/>
              <a:t>OpenAI. (2025). ChatGPT (40 </a:t>
            </a:r>
            <a:r>
              <a:rPr lang="en-US" dirty="0" err="1"/>
              <a:t>mimi</a:t>
            </a:r>
            <a:r>
              <a:rPr lang="en-US" dirty="0"/>
              <a:t>). </a:t>
            </a:r>
            <a:r>
              <a:rPr lang="en-US" u="sng" dirty="0">
                <a:hlinkClick r:id="rId3"/>
              </a:rPr>
              <a:t>https://chat.openai.com/chat</a:t>
            </a:r>
            <a:endParaRPr lang="en-US" dirty="0"/>
          </a:p>
          <a:p>
            <a:pPr marL="139700" indent="0" algn="l">
              <a:buNone/>
            </a:pPr>
            <a:endParaRPr lang="en-US" dirty="0"/>
          </a:p>
          <a:p>
            <a:pPr marL="139700" indent="0" algn="l">
              <a:buNone/>
            </a:pPr>
            <a:r>
              <a:rPr lang="en-US" dirty="0"/>
              <a:t>Spadaccini, A. (2015, October). </a:t>
            </a:r>
            <a:r>
              <a:rPr lang="en-US" i="1" dirty="0"/>
              <a:t>Being on-call</a:t>
            </a:r>
            <a:r>
              <a:rPr lang="en-US" dirty="0"/>
              <a:t>. Google SRE - On Call Engineer Best Practices for IT Services. https://sre.google/sre-book/being-on-call/ </a:t>
            </a:r>
          </a:p>
          <a:p>
            <a:pPr marL="139700" indent="0" algn="l">
              <a:buNone/>
            </a:pPr>
            <a:endParaRPr lang="en-US" dirty="0"/>
          </a:p>
          <a:p>
            <a:pPr marL="139700" lvl="0" indent="0" algn="l" rtl="0">
              <a:spcBef>
                <a:spcPts val="0"/>
              </a:spcBef>
              <a:spcAft>
                <a:spcPts val="0"/>
              </a:spcAft>
              <a:buSzPts val="1400"/>
              <a:buNone/>
            </a:pPr>
            <a:endParaRPr dirty="0"/>
          </a:p>
        </p:txBody>
      </p:sp>
      <p:sp>
        <p:nvSpPr>
          <p:cNvPr id="1537" name="Google Shape;1537;p120"/>
          <p:cNvSpPr txBox="1">
            <a:spLocks noGrp="1"/>
          </p:cNvSpPr>
          <p:nvPr>
            <p:ph type="title"/>
          </p:nvPr>
        </p:nvSpPr>
        <p:spPr>
          <a:xfrm>
            <a:off x="713225" y="445025"/>
            <a:ext cx="4502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List of references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69"/>
          <p:cNvSpPr txBox="1">
            <a:spLocks noGrp="1"/>
          </p:cNvSpPr>
          <p:nvPr>
            <p:ph type="title"/>
          </p:nvPr>
        </p:nvSpPr>
        <p:spPr>
          <a:xfrm>
            <a:off x="1303639" y="1549881"/>
            <a:ext cx="5968312" cy="183587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Thank you !</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71"/>
                                        </p:tgtEl>
                                        <p:attrNameLst>
                                          <p:attrName>style.visibility</p:attrName>
                                        </p:attrNameLst>
                                      </p:cBhvr>
                                      <p:to>
                                        <p:strVal val="visible"/>
                                      </p:to>
                                    </p:set>
                                    <p:anim calcmode="lin" valueType="num">
                                      <p:cBhvr additive="base">
                                        <p:cTn id="7" dur="1000"/>
                                        <p:tgtEl>
                                          <p:spTgt spid="57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885</TotalTime>
  <Words>543</Words>
  <Application>Microsoft Office PowerPoint</Application>
  <PresentationFormat>On-screen Show (16:9)</PresentationFormat>
  <Paragraphs>43</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Crimson Text</vt:lpstr>
      <vt:lpstr>Vidaloka</vt:lpstr>
      <vt:lpstr>Montserrat</vt:lpstr>
      <vt:lpstr>Merriweather Light</vt:lpstr>
      <vt:lpstr>Courier New</vt:lpstr>
      <vt:lpstr>Minimalist Business Slides XL by Slidesgo</vt:lpstr>
      <vt:lpstr>Pager Rotation Duties</vt:lpstr>
      <vt:lpstr>What is Pager Rotation?</vt:lpstr>
      <vt:lpstr>Why Pager Rotation Matters in DevOps</vt:lpstr>
      <vt:lpstr>Best Practices for Pager Rotation</vt:lpstr>
      <vt:lpstr>Large Organizations Structure On-Call Rotations</vt:lpstr>
      <vt:lpstr>Chapter 16 – Dev Shares Pager Rotation Duties with Ops</vt:lpstr>
      <vt:lpstr>List of 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Nardos G</dc:creator>
  <cp:lastModifiedBy>Nardos Gebremedhin</cp:lastModifiedBy>
  <cp:revision>2</cp:revision>
  <dcterms:modified xsi:type="dcterms:W3CDTF">2025-11-30T20:52:18Z</dcterms:modified>
</cp:coreProperties>
</file>